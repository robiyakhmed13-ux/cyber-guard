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31" d="100"/>
          <a:sy n="31" d="100"/>
        </p:scale>
        <p:origin x="1046" y="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526DEC-E5BC-4892-8753-1FC90ED94857}" type="datetimeFigureOut">
              <a:rPr lang="ru-RU" smtClean="0"/>
              <a:t>11.04.2026</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798DC0-72FA-429E-930F-FA2F80BFB8C7}" type="slidenum">
              <a:rPr lang="ru-RU" smtClean="0"/>
              <a:t>‹#›</a:t>
            </a:fld>
            <a:endParaRPr lang="ru-RU"/>
          </a:p>
        </p:txBody>
      </p:sp>
    </p:spTree>
    <p:extLst>
      <p:ext uri="{BB962C8B-B14F-4D97-AF65-F5344CB8AC3E}">
        <p14:creationId xmlns:p14="http://schemas.microsoft.com/office/powerpoint/2010/main" val="2894698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This presentation explains how CyberGuard was extended in Phase III from a web-based and service-oriented system into a complete data management and integration platform. The key goal was not just to add a database, but to design a modular backend that supports secure, scalable, and maintainable data handling across multiple components. In this phase I implemented a dedicated Phase III backend, connected the frontend to a live dashboard, and covered all assignment areas including CRUD operations, SQL and NoSQL persistence, REST APIs, asynchronous processing, caching, validation, security, data transformation, and logging. During the presentation I will first explain the project evolution, then the architecture, and finally demonstrate how the features work in the running system.</a:t>
            </a:r>
            <a:endParaRPr lang="ru-RU">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A6798DC0-72FA-429E-930F-FA2F80BFB8C7}" type="slidenum">
              <a:rPr lang="ru-RU" smtClean="0"/>
              <a:t>1</a:t>
            </a:fld>
            <a:endParaRPr lang="ru-RU"/>
          </a:p>
        </p:txBody>
      </p:sp>
    </p:spTree>
    <p:extLst>
      <p:ext uri="{BB962C8B-B14F-4D97-AF65-F5344CB8AC3E}">
        <p14:creationId xmlns:p14="http://schemas.microsoft.com/office/powerpoint/2010/main" val="473534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purpose of Assignment 4 is to show that the system can evolve from a basic application into a more realistic distributed platform. The assignment requires much more than storing data in a single table. It asks for architecture, clean layering, secure APIs, asynchronous behavior, performance improvements, and interoperability between formats. My approach was to build Phase III as a dedicated backend that sits beside the existing Phase II service-oriented layer. This allowed me to keep the earlier phase stable while implementing the new requirements in a modular way. As a result, the project now demonstrates both service integration and data management concepts in one application.</a:t>
            </a:r>
            <a:endParaRPr lang="ru-RU">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A6798DC0-72FA-429E-930F-FA2F80BFB8C7}" type="slidenum">
              <a:rPr lang="ru-RU" smtClean="0"/>
              <a:t>2</a:t>
            </a:fld>
            <a:endParaRPr lang="ru-RU"/>
          </a:p>
        </p:txBody>
      </p:sp>
    </p:spTree>
    <p:extLst>
      <p:ext uri="{BB962C8B-B14F-4D97-AF65-F5344CB8AC3E}">
        <p14:creationId xmlns:p14="http://schemas.microsoft.com/office/powerpoint/2010/main" val="4080280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An important point in my explanation is why there are two backend servers. Phase II and Phase III solve related but different problems. Phase II focuses on enterprise integration patterns such as orchestration and messaging. Phase III focuses on structured data handling, persistence, RESTful communication, validation, and system observability. I kept them as separate servers because that reflects the project phases and also makes the architecture easier to explain. The frontend can interact with both layers: the integration dashboard demonstrates Phase II, while the data management dashboard demonstrates Phase III. This separation also reduced the risk of breaking the previous work while adding new requirements.</a:t>
            </a:r>
            <a:endParaRPr lang="ru-RU">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A6798DC0-72FA-429E-930F-FA2F80BFB8C7}" type="slidenum">
              <a:rPr lang="ru-RU" smtClean="0"/>
              <a:t>3</a:t>
            </a:fld>
            <a:endParaRPr lang="ru-RU"/>
          </a:p>
        </p:txBody>
      </p:sp>
    </p:spTree>
    <p:extLst>
      <p:ext uri="{BB962C8B-B14F-4D97-AF65-F5344CB8AC3E}">
        <p14:creationId xmlns:p14="http://schemas.microsoft.com/office/powerpoint/2010/main" val="4114949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final architecture is organized around separation of concerns. The frontend is responsible for user interaction and demonstration. The backend receives requests through routes, controllers handle HTTP concerns, services contain the business logic, and models communicate with the underlying databases. Around this core, I added cross-cutting services such as caching, asynchronous processing, transformation, logging, and authentication. This structure improves maintainability because each layer has a clear responsibility. It also makes the system easier to test and explain, which is important for an academic project where architecture decisions must be justified, not just implemented.</a:t>
            </a:r>
            <a:endParaRPr lang="ru-RU">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A6798DC0-72FA-429E-930F-FA2F80BFB8C7}" type="slidenum">
              <a:rPr lang="ru-RU" smtClean="0"/>
              <a:t>4</a:t>
            </a:fld>
            <a:endParaRPr lang="ru-RU"/>
          </a:p>
        </p:txBody>
      </p:sp>
    </p:spTree>
    <p:extLst>
      <p:ext uri="{BB962C8B-B14F-4D97-AF65-F5344CB8AC3E}">
        <p14:creationId xmlns:p14="http://schemas.microsoft.com/office/powerpoint/2010/main" val="3987086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One of the most important improvements I made was enforcing a real controller to service to model structure. In the original Phase III scaffold, controllers were still doing too much direct model work. I refactored the implementation so controllers only handle request and response behavior, while services manage business logic such as cache invalidation, audit logging, and background job production. The models then focus only on SQL or document database queries. This is significant because it demonstrates a mature backend design rather than a simple monolithic file. It also matches the assignment language about clear separation of controller, service, and data layers.</a:t>
            </a:r>
            <a:endParaRPr lang="ru-RU">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A6798DC0-72FA-429E-930F-FA2F80BFB8C7}" type="slidenum">
              <a:rPr lang="ru-RU" smtClean="0"/>
              <a:t>5</a:t>
            </a:fld>
            <a:endParaRPr lang="ru-RU"/>
          </a:p>
        </p:txBody>
      </p:sp>
    </p:spTree>
    <p:extLst>
      <p:ext uri="{BB962C8B-B14F-4D97-AF65-F5344CB8AC3E}">
        <p14:creationId xmlns:p14="http://schemas.microsoft.com/office/powerpoint/2010/main" val="3545465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I used a dual-database approach because the project contains both structured and semi-structured data. SQLite is ideal for core operational records such as users, incidents, signatures, and audit logs because those entities benefit from relational constraints and predictable schema. NeDB is more suitable for flexible collections such as threat intelligence indicators, system events, scan results, and queued jobs, where document structure can vary. This decision also allowed me to explain the difference between relational integrity and document flexibility. For the assignment, it is valuable because it demonstrates that different data storage technologies can coexist in one distributed application when each is chosen for an appropriate purpose.</a:t>
            </a:r>
            <a:endParaRPr lang="ru-RU">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A6798DC0-72FA-429E-930F-FA2F80BFB8C7}" type="slidenum">
              <a:rPr lang="ru-RU" smtClean="0"/>
              <a:t>6</a:t>
            </a:fld>
            <a:endParaRPr lang="ru-RU"/>
          </a:p>
        </p:txBody>
      </p:sp>
    </p:spTree>
    <p:extLst>
      <p:ext uri="{BB962C8B-B14F-4D97-AF65-F5344CB8AC3E}">
        <p14:creationId xmlns:p14="http://schemas.microsoft.com/office/powerpoint/2010/main" val="4092005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API design follows REST principles using standard HTTP methods such as GET, POST, PUT, and DELETE. Responses follow a structured JSON envelope with success, data, and meta fields so the client receives predictable output. I also used appropriate status codes, for example 201 for successful creation, 401 for unauthorized access, 403 for forbidden actions, 404 for missing records, and 409 for duplicate registration attempts. Another important point is that the API was not limited to basic CRUD. It also includes higher-level endpoints such as statistics, transformations, and monitoring, which makes the backend more realistic and more aligned with distributed system needs.</a:t>
            </a:r>
            <a:endParaRPr lang="ru-RU">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A6798DC0-72FA-429E-930F-FA2F80BFB8C7}" type="slidenum">
              <a:rPr lang="ru-RU" smtClean="0"/>
              <a:t>7</a:t>
            </a:fld>
            <a:endParaRPr lang="ru-RU"/>
          </a:p>
        </p:txBody>
      </p:sp>
    </p:spTree>
    <p:extLst>
      <p:ext uri="{BB962C8B-B14F-4D97-AF65-F5344CB8AC3E}">
        <p14:creationId xmlns:p14="http://schemas.microsoft.com/office/powerpoint/2010/main" val="2302909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To satisfy the asynchronous processing requirement, I implemented an event-driven background job system. The key idea is that time-consuming or delayed work should not block the main request-response cycle. When an incident is created, the system can enqueue analysis work instead of trying to finish everything immediately inside one HTTP request. The job queue is persistent, which means jobs remain stored even if the consumer is temporarily offline. This directly addresses the assignment requirement about being able to process messages after service downtime. In a live demo, I can show queue statistics, create jobs, and explain how the producer and consumer components interact.</a:t>
            </a:r>
            <a:endParaRPr lang="ru-RU">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A6798DC0-72FA-429E-930F-FA2F80BFB8C7}" type="slidenum">
              <a:rPr lang="ru-RU" smtClean="0"/>
              <a:t>8</a:t>
            </a:fld>
            <a:endParaRPr lang="ru-RU"/>
          </a:p>
        </p:txBody>
      </p:sp>
    </p:spTree>
    <p:extLst>
      <p:ext uri="{BB962C8B-B14F-4D97-AF65-F5344CB8AC3E}">
        <p14:creationId xmlns:p14="http://schemas.microsoft.com/office/powerpoint/2010/main" val="24687817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Caching was introduced to reduce repeated expensive operations and improve perceived performance. The cache service tracks hits, misses, sets, invalidations, and evictions, which makes it measurable instead of theoretical. I used short TTL values because security data can change and stale data should not stay in cache for too long. Another important design choice is tag-based invalidation. For example, when incidents are modified, all incident-related cache entries can be invalidated together to keep the API responses consistent. The project also includes a performance comparison endpoint, which helps explain the effect of caching in a simple and visual way during the presentation.</a:t>
            </a:r>
            <a:endParaRPr lang="ru-RU">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A6798DC0-72FA-429E-930F-FA2F80BFB8C7}" type="slidenum">
              <a:rPr lang="ru-RU" smtClean="0"/>
              <a:t>9</a:t>
            </a:fld>
            <a:endParaRPr lang="ru-RU"/>
          </a:p>
        </p:txBody>
      </p:sp>
    </p:spTree>
    <p:extLst>
      <p:ext uri="{BB962C8B-B14F-4D97-AF65-F5344CB8AC3E}">
        <p14:creationId xmlns:p14="http://schemas.microsoft.com/office/powerpoint/2010/main" val="25523461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Security is not treated as an optional extra in this phase. I implemented token-based authentication using JWT, so the API can protect write operations and privileged monitoring routes. Passwords are hashed with bcrypt before storage. On top of that, middleware adds security headers, rate limiting, sanitization, and validation rules. These measures protect against weak input, brute-force attempts, and common attack vectors such as malformed payloads or unsafe script content. The system also includes role-based authorization, which means not all users can perform the same actions. This is important because secure API design is one of the main explicit requirements in the assignment.</a:t>
            </a:r>
            <a:endParaRPr lang="ru-RU">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A6798DC0-72FA-429E-930F-FA2F80BFB8C7}" type="slidenum">
              <a:rPr lang="ru-RU" smtClean="0"/>
              <a:t>10</a:t>
            </a:fld>
            <a:endParaRPr lang="ru-RU"/>
          </a:p>
        </p:txBody>
      </p:sp>
    </p:spTree>
    <p:extLst>
      <p:ext uri="{BB962C8B-B14F-4D97-AF65-F5344CB8AC3E}">
        <p14:creationId xmlns:p14="http://schemas.microsoft.com/office/powerpoint/2010/main" val="2490952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transformation component shows that the backend can do more than store and retrieve records. It can also reshape data to meet the needs of other systems. In this project, incidents can be converted into XML, transformed into a custom external JSON structure, and exported in a STIX-like format inspired by cybersecurity information sharing standards. There is also an XML-to-JSON endpoint so external data could be accepted and normalized. This is especially relevant in distributed systems because different components, vendors, or services often use different formats. By supporting transformation, the system becomes more interoperable and closer to real-world enterprise software.</a:t>
            </a:r>
            <a:endParaRPr lang="ru-RU">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A6798DC0-72FA-429E-930F-FA2F80BFB8C7}" type="slidenum">
              <a:rPr lang="ru-RU" smtClean="0"/>
              <a:t>11</a:t>
            </a:fld>
            <a:endParaRPr lang="ru-RU"/>
          </a:p>
        </p:txBody>
      </p:sp>
    </p:spTree>
    <p:extLst>
      <p:ext uri="{BB962C8B-B14F-4D97-AF65-F5344CB8AC3E}">
        <p14:creationId xmlns:p14="http://schemas.microsoft.com/office/powerpoint/2010/main" val="419328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Monitoring and observability are critical when a system grows beyond a simple classroom prototype. I implemented structured logging with Winston so that system activity is visible in both the console and persistent log files. The request logger captures method, route, duration, and status code, which helps identify slow or failing requests. I also added runtime metrics that summarize requests, response times, database operations, and cache usage. In addition, the audit log records sensitive actions and the system events collection tracks operational events. Together, these features support debugging, maintenance, and post-incident analysis.</a:t>
            </a:r>
            <a:endParaRPr lang="ru-RU">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A6798DC0-72FA-429E-930F-FA2F80BFB8C7}" type="slidenum">
              <a:rPr lang="ru-RU" smtClean="0"/>
              <a:t>12</a:t>
            </a:fld>
            <a:endParaRPr lang="ru-RU"/>
          </a:p>
        </p:txBody>
      </p:sp>
    </p:spTree>
    <p:extLst>
      <p:ext uri="{BB962C8B-B14F-4D97-AF65-F5344CB8AC3E}">
        <p14:creationId xmlns:p14="http://schemas.microsoft.com/office/powerpoint/2010/main" val="3338060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For the classroom demonstration, I prepared a simple and reliable walkthrough. First I start the frontend and both backend servers. Then I open the Phase III dashboard route, which was added to the frontend specifically for this assignment. From there I can authenticate with the seeded admin account, create an incident through the REST API, enqueue an asynchronous job, show the cache benchmark output, and perform a transformation from XML to JSON. This sequence demonstrates multiple requirements in just a few minutes: API communication, security, asynchronous processing, caching, monitoring, and interoperability. It is a practical way to prove that the implementation is working, not just documented.</a:t>
            </a:r>
            <a:endParaRPr lang="ru-RU">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A6798DC0-72FA-429E-930F-FA2F80BFB8C7}" type="slidenum">
              <a:rPr lang="ru-RU" smtClean="0"/>
              <a:t>13</a:t>
            </a:fld>
            <a:endParaRPr lang="ru-RU"/>
          </a:p>
        </p:txBody>
      </p:sp>
    </p:spTree>
    <p:extLst>
      <p:ext uri="{BB962C8B-B14F-4D97-AF65-F5344CB8AC3E}">
        <p14:creationId xmlns:p14="http://schemas.microsoft.com/office/powerpoint/2010/main" val="4122915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A useful part of the presentation is reflecting on the engineering decisions and fixes. One issue I addressed was that the initial backend structure claimed to have separate layers, but controllers were still performing too much direct work. Refactoring into explicit service classes made the architecture more correct and easier to explain. Another issue was startup reliability, especially around asynchronous SQLite initialization and database seeding. I also improved the seed logic so that repeated demos do not keep duplicating data. Finally, I created a dedicated frontend page for Phase III because a good demonstration needs visibility; if the backend works but cannot be shown clearly, it weakens the presentation.</a:t>
            </a:r>
            <a:endParaRPr lang="ru-RU">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A6798DC0-72FA-429E-930F-FA2F80BFB8C7}" type="slidenum">
              <a:rPr lang="ru-RU" smtClean="0"/>
              <a:t>14</a:t>
            </a:fld>
            <a:endParaRPr lang="ru-RU"/>
          </a:p>
        </p:txBody>
      </p:sp>
    </p:spTree>
    <p:extLst>
      <p:ext uri="{BB962C8B-B14F-4D97-AF65-F5344CB8AC3E}">
        <p14:creationId xmlns:p14="http://schemas.microsoft.com/office/powerpoint/2010/main" val="8245791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In conclusion, Phase III turned CyberGuard into a more complete and realistic platform. The project now demonstrates how data can be managed securely and efficiently in a distributed application. It covers the functional requirements of the assignment while also showing architectural thinking, performance awareness, and maintainability. If this project were continued further, the next steps would be to replace the embedded components with production-grade tools such as Redis for caching, RabbitMQ for messaging, and PostgreSQL for relational persistence. However, for the course requirements, the current implementation already provides a strong, complete, and demonstrable solution.</a:t>
            </a:r>
            <a:endParaRPr lang="ru-RU">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A6798DC0-72FA-429E-930F-FA2F80BFB8C7}" type="slidenum">
              <a:rPr lang="ru-RU" smtClean="0"/>
              <a:t>15</a:t>
            </a:fld>
            <a:endParaRPr lang="ru-RU"/>
          </a:p>
        </p:txBody>
      </p:sp>
    </p:spTree>
    <p:extLst>
      <p:ext uri="{BB962C8B-B14F-4D97-AF65-F5344CB8AC3E}">
        <p14:creationId xmlns:p14="http://schemas.microsoft.com/office/powerpoint/2010/main" val="3951522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0EFFD-87FA-0685-1162-BF2B4EB98E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a:extLst>
              <a:ext uri="{FF2B5EF4-FFF2-40B4-BE49-F238E27FC236}">
                <a16:creationId xmlns:a16="http://schemas.microsoft.com/office/drawing/2014/main" id="{EA458AA0-2B42-60B6-65E7-8D90831449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a:extLst>
              <a:ext uri="{FF2B5EF4-FFF2-40B4-BE49-F238E27FC236}">
                <a16:creationId xmlns:a16="http://schemas.microsoft.com/office/drawing/2014/main" id="{027F41E3-A35C-E48C-72CB-B90DFDF3014A}"/>
              </a:ext>
            </a:extLst>
          </p:cNvPr>
          <p:cNvSpPr>
            <a:spLocks noGrp="1"/>
          </p:cNvSpPr>
          <p:nvPr>
            <p:ph type="dt" sz="half" idx="10"/>
          </p:nvPr>
        </p:nvSpPr>
        <p:spPr/>
        <p:txBody>
          <a:bodyPr/>
          <a:lstStyle/>
          <a:p>
            <a:fld id="{CCC5C667-7D7F-437A-B1D7-E1D69A1D525C}" type="datetimeFigureOut">
              <a:rPr lang="ru-RU" smtClean="0"/>
              <a:t>11.04.2026</a:t>
            </a:fld>
            <a:endParaRPr lang="ru-RU"/>
          </a:p>
        </p:txBody>
      </p:sp>
      <p:sp>
        <p:nvSpPr>
          <p:cNvPr id="5" name="Footer Placeholder 4">
            <a:extLst>
              <a:ext uri="{FF2B5EF4-FFF2-40B4-BE49-F238E27FC236}">
                <a16:creationId xmlns:a16="http://schemas.microsoft.com/office/drawing/2014/main" id="{4BB30759-D336-E57B-603A-9A5F2F1E6081}"/>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80C54F5E-D7C0-1405-36EA-8D7E905C1F8E}"/>
              </a:ext>
            </a:extLst>
          </p:cNvPr>
          <p:cNvSpPr>
            <a:spLocks noGrp="1"/>
          </p:cNvSpPr>
          <p:nvPr>
            <p:ph type="sldNum" sz="quarter" idx="12"/>
          </p:nvPr>
        </p:nvSpPr>
        <p:spPr/>
        <p:txBody>
          <a:bodyPr/>
          <a:lstStyle/>
          <a:p>
            <a:fld id="{CDCB5923-F431-4D8B-B3A7-EF02B7910D32}" type="slidenum">
              <a:rPr lang="ru-RU" smtClean="0"/>
              <a:t>‹#›</a:t>
            </a:fld>
            <a:endParaRPr lang="ru-RU"/>
          </a:p>
        </p:txBody>
      </p:sp>
    </p:spTree>
    <p:extLst>
      <p:ext uri="{BB962C8B-B14F-4D97-AF65-F5344CB8AC3E}">
        <p14:creationId xmlns:p14="http://schemas.microsoft.com/office/powerpoint/2010/main" val="2899083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72A5A-4990-2661-B59D-5B54887D506E}"/>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CB1FD7FD-5506-8A6B-7BBC-228E3C28DF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2022C116-8BFF-572F-199C-BBDCE33597B1}"/>
              </a:ext>
            </a:extLst>
          </p:cNvPr>
          <p:cNvSpPr>
            <a:spLocks noGrp="1"/>
          </p:cNvSpPr>
          <p:nvPr>
            <p:ph type="dt" sz="half" idx="10"/>
          </p:nvPr>
        </p:nvSpPr>
        <p:spPr/>
        <p:txBody>
          <a:bodyPr/>
          <a:lstStyle/>
          <a:p>
            <a:fld id="{CCC5C667-7D7F-437A-B1D7-E1D69A1D525C}" type="datetimeFigureOut">
              <a:rPr lang="ru-RU" smtClean="0"/>
              <a:t>11.04.2026</a:t>
            </a:fld>
            <a:endParaRPr lang="ru-RU"/>
          </a:p>
        </p:txBody>
      </p:sp>
      <p:sp>
        <p:nvSpPr>
          <p:cNvPr id="5" name="Footer Placeholder 4">
            <a:extLst>
              <a:ext uri="{FF2B5EF4-FFF2-40B4-BE49-F238E27FC236}">
                <a16:creationId xmlns:a16="http://schemas.microsoft.com/office/drawing/2014/main" id="{FB2A7A28-622B-43BF-1897-2E1F011A12F8}"/>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8F6C80BC-D1F6-5CA4-C21D-21AB55BC87C6}"/>
              </a:ext>
            </a:extLst>
          </p:cNvPr>
          <p:cNvSpPr>
            <a:spLocks noGrp="1"/>
          </p:cNvSpPr>
          <p:nvPr>
            <p:ph type="sldNum" sz="quarter" idx="12"/>
          </p:nvPr>
        </p:nvSpPr>
        <p:spPr/>
        <p:txBody>
          <a:bodyPr/>
          <a:lstStyle/>
          <a:p>
            <a:fld id="{CDCB5923-F431-4D8B-B3A7-EF02B7910D32}" type="slidenum">
              <a:rPr lang="ru-RU" smtClean="0"/>
              <a:t>‹#›</a:t>
            </a:fld>
            <a:endParaRPr lang="ru-RU"/>
          </a:p>
        </p:txBody>
      </p:sp>
    </p:spTree>
    <p:extLst>
      <p:ext uri="{BB962C8B-B14F-4D97-AF65-F5344CB8AC3E}">
        <p14:creationId xmlns:p14="http://schemas.microsoft.com/office/powerpoint/2010/main" val="3744489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10759-7F54-6591-C08D-87856C4ED2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a:extLst>
              <a:ext uri="{FF2B5EF4-FFF2-40B4-BE49-F238E27FC236}">
                <a16:creationId xmlns:a16="http://schemas.microsoft.com/office/drawing/2014/main" id="{916050B4-AF42-FE15-A762-545F019FFA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B690F7-5DBE-B729-AD89-DA27B2D8C1A1}"/>
              </a:ext>
            </a:extLst>
          </p:cNvPr>
          <p:cNvSpPr>
            <a:spLocks noGrp="1"/>
          </p:cNvSpPr>
          <p:nvPr>
            <p:ph type="dt" sz="half" idx="10"/>
          </p:nvPr>
        </p:nvSpPr>
        <p:spPr/>
        <p:txBody>
          <a:bodyPr/>
          <a:lstStyle/>
          <a:p>
            <a:fld id="{CCC5C667-7D7F-437A-B1D7-E1D69A1D525C}" type="datetimeFigureOut">
              <a:rPr lang="ru-RU" smtClean="0"/>
              <a:t>11.04.2026</a:t>
            </a:fld>
            <a:endParaRPr lang="ru-RU"/>
          </a:p>
        </p:txBody>
      </p:sp>
      <p:sp>
        <p:nvSpPr>
          <p:cNvPr id="5" name="Footer Placeholder 4">
            <a:extLst>
              <a:ext uri="{FF2B5EF4-FFF2-40B4-BE49-F238E27FC236}">
                <a16:creationId xmlns:a16="http://schemas.microsoft.com/office/drawing/2014/main" id="{C6454086-E09F-2F78-8FE6-9A55C126DFAD}"/>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746AAC52-28DC-CDF4-09AE-DD843C139A0C}"/>
              </a:ext>
            </a:extLst>
          </p:cNvPr>
          <p:cNvSpPr>
            <a:spLocks noGrp="1"/>
          </p:cNvSpPr>
          <p:nvPr>
            <p:ph type="sldNum" sz="quarter" idx="12"/>
          </p:nvPr>
        </p:nvSpPr>
        <p:spPr/>
        <p:txBody>
          <a:bodyPr/>
          <a:lstStyle/>
          <a:p>
            <a:fld id="{CDCB5923-F431-4D8B-B3A7-EF02B7910D32}" type="slidenum">
              <a:rPr lang="ru-RU" smtClean="0"/>
              <a:t>‹#›</a:t>
            </a:fld>
            <a:endParaRPr lang="ru-RU"/>
          </a:p>
        </p:txBody>
      </p:sp>
    </p:spTree>
    <p:extLst>
      <p:ext uri="{BB962C8B-B14F-4D97-AF65-F5344CB8AC3E}">
        <p14:creationId xmlns:p14="http://schemas.microsoft.com/office/powerpoint/2010/main" val="551049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04F89-2C4C-7CE5-C78C-42E284D8D87F}"/>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C77A76EE-B85A-87A5-490B-D8CBEABB19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a:extLst>
              <a:ext uri="{FF2B5EF4-FFF2-40B4-BE49-F238E27FC236}">
                <a16:creationId xmlns:a16="http://schemas.microsoft.com/office/drawing/2014/main" id="{3706E4C1-4F70-86FD-E257-5485A08079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a:extLst>
              <a:ext uri="{FF2B5EF4-FFF2-40B4-BE49-F238E27FC236}">
                <a16:creationId xmlns:a16="http://schemas.microsoft.com/office/drawing/2014/main" id="{9A824540-C8F3-65A9-D911-2B19FE830FEE}"/>
              </a:ext>
            </a:extLst>
          </p:cNvPr>
          <p:cNvSpPr>
            <a:spLocks noGrp="1"/>
          </p:cNvSpPr>
          <p:nvPr>
            <p:ph type="dt" sz="half" idx="10"/>
          </p:nvPr>
        </p:nvSpPr>
        <p:spPr/>
        <p:txBody>
          <a:bodyPr/>
          <a:lstStyle/>
          <a:p>
            <a:fld id="{CCC5C667-7D7F-437A-B1D7-E1D69A1D525C}" type="datetimeFigureOut">
              <a:rPr lang="ru-RU" smtClean="0"/>
              <a:t>11.04.2026</a:t>
            </a:fld>
            <a:endParaRPr lang="ru-RU"/>
          </a:p>
        </p:txBody>
      </p:sp>
      <p:sp>
        <p:nvSpPr>
          <p:cNvPr id="6" name="Footer Placeholder 5">
            <a:extLst>
              <a:ext uri="{FF2B5EF4-FFF2-40B4-BE49-F238E27FC236}">
                <a16:creationId xmlns:a16="http://schemas.microsoft.com/office/drawing/2014/main" id="{E903E292-5B30-AE6D-BE23-5C4EFE45BEC9}"/>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5CE09C76-1DDF-76C1-1E0C-293327939338}"/>
              </a:ext>
            </a:extLst>
          </p:cNvPr>
          <p:cNvSpPr>
            <a:spLocks noGrp="1"/>
          </p:cNvSpPr>
          <p:nvPr>
            <p:ph type="sldNum" sz="quarter" idx="12"/>
          </p:nvPr>
        </p:nvSpPr>
        <p:spPr/>
        <p:txBody>
          <a:bodyPr/>
          <a:lstStyle/>
          <a:p>
            <a:fld id="{CDCB5923-F431-4D8B-B3A7-EF02B7910D32}" type="slidenum">
              <a:rPr lang="ru-RU" smtClean="0"/>
              <a:t>‹#›</a:t>
            </a:fld>
            <a:endParaRPr lang="ru-RU"/>
          </a:p>
        </p:txBody>
      </p:sp>
    </p:spTree>
    <p:extLst>
      <p:ext uri="{BB962C8B-B14F-4D97-AF65-F5344CB8AC3E}">
        <p14:creationId xmlns:p14="http://schemas.microsoft.com/office/powerpoint/2010/main" val="758566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9BA0F-A179-EF4A-8C94-93E965F4BD25}"/>
              </a:ext>
            </a:extLst>
          </p:cNvPr>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a:extLst>
              <a:ext uri="{FF2B5EF4-FFF2-40B4-BE49-F238E27FC236}">
                <a16:creationId xmlns:a16="http://schemas.microsoft.com/office/drawing/2014/main" id="{8BF59539-AF21-BDF5-4524-2CD4BB496A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BBFC26-F17B-9BC3-CD53-346AB70FA0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a:extLst>
              <a:ext uri="{FF2B5EF4-FFF2-40B4-BE49-F238E27FC236}">
                <a16:creationId xmlns:a16="http://schemas.microsoft.com/office/drawing/2014/main" id="{D4848261-2FDC-15AB-713F-CEB9CF1B54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F9DA3D-99DB-E170-936F-2B524B77E9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a:extLst>
              <a:ext uri="{FF2B5EF4-FFF2-40B4-BE49-F238E27FC236}">
                <a16:creationId xmlns:a16="http://schemas.microsoft.com/office/drawing/2014/main" id="{72B31961-5A93-0489-9022-CD78D70A3576}"/>
              </a:ext>
            </a:extLst>
          </p:cNvPr>
          <p:cNvSpPr>
            <a:spLocks noGrp="1"/>
          </p:cNvSpPr>
          <p:nvPr>
            <p:ph type="dt" sz="half" idx="10"/>
          </p:nvPr>
        </p:nvSpPr>
        <p:spPr/>
        <p:txBody>
          <a:bodyPr/>
          <a:lstStyle/>
          <a:p>
            <a:fld id="{CCC5C667-7D7F-437A-B1D7-E1D69A1D525C}" type="datetimeFigureOut">
              <a:rPr lang="ru-RU" smtClean="0"/>
              <a:t>11.04.2026</a:t>
            </a:fld>
            <a:endParaRPr lang="ru-RU"/>
          </a:p>
        </p:txBody>
      </p:sp>
      <p:sp>
        <p:nvSpPr>
          <p:cNvPr id="8" name="Footer Placeholder 7">
            <a:extLst>
              <a:ext uri="{FF2B5EF4-FFF2-40B4-BE49-F238E27FC236}">
                <a16:creationId xmlns:a16="http://schemas.microsoft.com/office/drawing/2014/main" id="{B1FDCAC7-CDAA-2F9F-B212-5C1D820C76E2}"/>
              </a:ext>
            </a:extLst>
          </p:cNvPr>
          <p:cNvSpPr>
            <a:spLocks noGrp="1"/>
          </p:cNvSpPr>
          <p:nvPr>
            <p:ph type="ftr" sz="quarter" idx="11"/>
          </p:nvPr>
        </p:nvSpPr>
        <p:spPr/>
        <p:txBody>
          <a:bodyPr/>
          <a:lstStyle/>
          <a:p>
            <a:endParaRPr lang="ru-RU"/>
          </a:p>
        </p:txBody>
      </p:sp>
      <p:sp>
        <p:nvSpPr>
          <p:cNvPr id="9" name="Slide Number Placeholder 8">
            <a:extLst>
              <a:ext uri="{FF2B5EF4-FFF2-40B4-BE49-F238E27FC236}">
                <a16:creationId xmlns:a16="http://schemas.microsoft.com/office/drawing/2014/main" id="{B81BF863-6203-C442-B467-0D25A6856746}"/>
              </a:ext>
            </a:extLst>
          </p:cNvPr>
          <p:cNvSpPr>
            <a:spLocks noGrp="1"/>
          </p:cNvSpPr>
          <p:nvPr>
            <p:ph type="sldNum" sz="quarter" idx="12"/>
          </p:nvPr>
        </p:nvSpPr>
        <p:spPr/>
        <p:txBody>
          <a:bodyPr/>
          <a:lstStyle/>
          <a:p>
            <a:fld id="{CDCB5923-F431-4D8B-B3A7-EF02B7910D32}" type="slidenum">
              <a:rPr lang="ru-RU" smtClean="0"/>
              <a:t>‹#›</a:t>
            </a:fld>
            <a:endParaRPr lang="ru-RU"/>
          </a:p>
        </p:txBody>
      </p:sp>
    </p:spTree>
    <p:extLst>
      <p:ext uri="{BB962C8B-B14F-4D97-AF65-F5344CB8AC3E}">
        <p14:creationId xmlns:p14="http://schemas.microsoft.com/office/powerpoint/2010/main" val="1418339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9538A-C334-AF77-6960-0A9B8569ED16}"/>
              </a:ext>
            </a:extLst>
          </p:cNvPr>
          <p:cNvSpPr>
            <a:spLocks noGrp="1"/>
          </p:cNvSpPr>
          <p:nvPr>
            <p:ph type="title"/>
          </p:nvPr>
        </p:nvSpPr>
        <p:spPr/>
        <p:txBody>
          <a:bodyPr/>
          <a:lstStyle/>
          <a:p>
            <a:r>
              <a:rPr lang="en-US"/>
              <a:t>Click to edit Master title style</a:t>
            </a:r>
            <a:endParaRPr lang="ru-RU"/>
          </a:p>
        </p:txBody>
      </p:sp>
      <p:sp>
        <p:nvSpPr>
          <p:cNvPr id="3" name="Date Placeholder 2">
            <a:extLst>
              <a:ext uri="{FF2B5EF4-FFF2-40B4-BE49-F238E27FC236}">
                <a16:creationId xmlns:a16="http://schemas.microsoft.com/office/drawing/2014/main" id="{DCC61C83-A989-088E-7404-65A677E9AB4F}"/>
              </a:ext>
            </a:extLst>
          </p:cNvPr>
          <p:cNvSpPr>
            <a:spLocks noGrp="1"/>
          </p:cNvSpPr>
          <p:nvPr>
            <p:ph type="dt" sz="half" idx="10"/>
          </p:nvPr>
        </p:nvSpPr>
        <p:spPr/>
        <p:txBody>
          <a:bodyPr/>
          <a:lstStyle/>
          <a:p>
            <a:fld id="{CCC5C667-7D7F-437A-B1D7-E1D69A1D525C}" type="datetimeFigureOut">
              <a:rPr lang="ru-RU" smtClean="0"/>
              <a:t>11.04.2026</a:t>
            </a:fld>
            <a:endParaRPr lang="ru-RU"/>
          </a:p>
        </p:txBody>
      </p:sp>
      <p:sp>
        <p:nvSpPr>
          <p:cNvPr id="4" name="Footer Placeholder 3">
            <a:extLst>
              <a:ext uri="{FF2B5EF4-FFF2-40B4-BE49-F238E27FC236}">
                <a16:creationId xmlns:a16="http://schemas.microsoft.com/office/drawing/2014/main" id="{BB154FFE-6E01-5524-93B0-2EDBECE0F04E}"/>
              </a:ext>
            </a:extLst>
          </p:cNvPr>
          <p:cNvSpPr>
            <a:spLocks noGrp="1"/>
          </p:cNvSpPr>
          <p:nvPr>
            <p:ph type="ftr" sz="quarter" idx="11"/>
          </p:nvPr>
        </p:nvSpPr>
        <p:spPr/>
        <p:txBody>
          <a:bodyPr/>
          <a:lstStyle/>
          <a:p>
            <a:endParaRPr lang="ru-RU"/>
          </a:p>
        </p:txBody>
      </p:sp>
      <p:sp>
        <p:nvSpPr>
          <p:cNvPr id="5" name="Slide Number Placeholder 4">
            <a:extLst>
              <a:ext uri="{FF2B5EF4-FFF2-40B4-BE49-F238E27FC236}">
                <a16:creationId xmlns:a16="http://schemas.microsoft.com/office/drawing/2014/main" id="{C8DED8F9-A425-7293-E270-AE89EF30E1F8}"/>
              </a:ext>
            </a:extLst>
          </p:cNvPr>
          <p:cNvSpPr>
            <a:spLocks noGrp="1"/>
          </p:cNvSpPr>
          <p:nvPr>
            <p:ph type="sldNum" sz="quarter" idx="12"/>
          </p:nvPr>
        </p:nvSpPr>
        <p:spPr/>
        <p:txBody>
          <a:bodyPr/>
          <a:lstStyle/>
          <a:p>
            <a:fld id="{CDCB5923-F431-4D8B-B3A7-EF02B7910D32}" type="slidenum">
              <a:rPr lang="ru-RU" smtClean="0"/>
              <a:t>‹#›</a:t>
            </a:fld>
            <a:endParaRPr lang="ru-RU"/>
          </a:p>
        </p:txBody>
      </p:sp>
    </p:spTree>
    <p:extLst>
      <p:ext uri="{BB962C8B-B14F-4D97-AF65-F5344CB8AC3E}">
        <p14:creationId xmlns:p14="http://schemas.microsoft.com/office/powerpoint/2010/main" val="3875535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9D867C-7834-E551-44FC-B7D5A12E4234}"/>
              </a:ext>
            </a:extLst>
          </p:cNvPr>
          <p:cNvSpPr>
            <a:spLocks noGrp="1"/>
          </p:cNvSpPr>
          <p:nvPr>
            <p:ph type="dt" sz="half" idx="10"/>
          </p:nvPr>
        </p:nvSpPr>
        <p:spPr/>
        <p:txBody>
          <a:bodyPr/>
          <a:lstStyle/>
          <a:p>
            <a:fld id="{CCC5C667-7D7F-437A-B1D7-E1D69A1D525C}" type="datetimeFigureOut">
              <a:rPr lang="ru-RU" smtClean="0"/>
              <a:t>11.04.2026</a:t>
            </a:fld>
            <a:endParaRPr lang="ru-RU"/>
          </a:p>
        </p:txBody>
      </p:sp>
      <p:sp>
        <p:nvSpPr>
          <p:cNvPr id="3" name="Footer Placeholder 2">
            <a:extLst>
              <a:ext uri="{FF2B5EF4-FFF2-40B4-BE49-F238E27FC236}">
                <a16:creationId xmlns:a16="http://schemas.microsoft.com/office/drawing/2014/main" id="{660B366B-6CFB-1D6B-A528-2C3A7776EFC8}"/>
              </a:ext>
            </a:extLst>
          </p:cNvPr>
          <p:cNvSpPr>
            <a:spLocks noGrp="1"/>
          </p:cNvSpPr>
          <p:nvPr>
            <p:ph type="ftr" sz="quarter" idx="11"/>
          </p:nvPr>
        </p:nvSpPr>
        <p:spPr/>
        <p:txBody>
          <a:bodyPr/>
          <a:lstStyle/>
          <a:p>
            <a:endParaRPr lang="ru-RU"/>
          </a:p>
        </p:txBody>
      </p:sp>
      <p:sp>
        <p:nvSpPr>
          <p:cNvPr id="4" name="Slide Number Placeholder 3">
            <a:extLst>
              <a:ext uri="{FF2B5EF4-FFF2-40B4-BE49-F238E27FC236}">
                <a16:creationId xmlns:a16="http://schemas.microsoft.com/office/drawing/2014/main" id="{A7971A0E-F820-E4E5-06AE-980AABEE7BE6}"/>
              </a:ext>
            </a:extLst>
          </p:cNvPr>
          <p:cNvSpPr>
            <a:spLocks noGrp="1"/>
          </p:cNvSpPr>
          <p:nvPr>
            <p:ph type="sldNum" sz="quarter" idx="12"/>
          </p:nvPr>
        </p:nvSpPr>
        <p:spPr/>
        <p:txBody>
          <a:bodyPr/>
          <a:lstStyle/>
          <a:p>
            <a:fld id="{CDCB5923-F431-4D8B-B3A7-EF02B7910D32}" type="slidenum">
              <a:rPr lang="ru-RU" smtClean="0"/>
              <a:t>‹#›</a:t>
            </a:fld>
            <a:endParaRPr lang="ru-RU"/>
          </a:p>
        </p:txBody>
      </p:sp>
    </p:spTree>
    <p:extLst>
      <p:ext uri="{BB962C8B-B14F-4D97-AF65-F5344CB8AC3E}">
        <p14:creationId xmlns:p14="http://schemas.microsoft.com/office/powerpoint/2010/main" val="1605127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59AFC-7822-0905-BA22-5EE13D92EA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a:extLst>
              <a:ext uri="{FF2B5EF4-FFF2-40B4-BE49-F238E27FC236}">
                <a16:creationId xmlns:a16="http://schemas.microsoft.com/office/drawing/2014/main" id="{47FE045B-FB27-BA78-D1A9-FE1D157ECC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a:extLst>
              <a:ext uri="{FF2B5EF4-FFF2-40B4-BE49-F238E27FC236}">
                <a16:creationId xmlns:a16="http://schemas.microsoft.com/office/drawing/2014/main" id="{B4FCAE57-B0FC-19C7-8C0B-E51AEF0337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56E94F-981C-3ABE-5C08-CFA24D1638F6}"/>
              </a:ext>
            </a:extLst>
          </p:cNvPr>
          <p:cNvSpPr>
            <a:spLocks noGrp="1"/>
          </p:cNvSpPr>
          <p:nvPr>
            <p:ph type="dt" sz="half" idx="10"/>
          </p:nvPr>
        </p:nvSpPr>
        <p:spPr/>
        <p:txBody>
          <a:bodyPr/>
          <a:lstStyle/>
          <a:p>
            <a:fld id="{CCC5C667-7D7F-437A-B1D7-E1D69A1D525C}" type="datetimeFigureOut">
              <a:rPr lang="ru-RU" smtClean="0"/>
              <a:t>11.04.2026</a:t>
            </a:fld>
            <a:endParaRPr lang="ru-RU"/>
          </a:p>
        </p:txBody>
      </p:sp>
      <p:sp>
        <p:nvSpPr>
          <p:cNvPr id="6" name="Footer Placeholder 5">
            <a:extLst>
              <a:ext uri="{FF2B5EF4-FFF2-40B4-BE49-F238E27FC236}">
                <a16:creationId xmlns:a16="http://schemas.microsoft.com/office/drawing/2014/main" id="{C07B37D0-EA9A-36D7-F2FB-6145051609A6}"/>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01E2BFB1-1B42-423D-2002-C24FACF42E9F}"/>
              </a:ext>
            </a:extLst>
          </p:cNvPr>
          <p:cNvSpPr>
            <a:spLocks noGrp="1"/>
          </p:cNvSpPr>
          <p:nvPr>
            <p:ph type="sldNum" sz="quarter" idx="12"/>
          </p:nvPr>
        </p:nvSpPr>
        <p:spPr/>
        <p:txBody>
          <a:bodyPr/>
          <a:lstStyle/>
          <a:p>
            <a:fld id="{CDCB5923-F431-4D8B-B3A7-EF02B7910D32}" type="slidenum">
              <a:rPr lang="ru-RU" smtClean="0"/>
              <a:t>‹#›</a:t>
            </a:fld>
            <a:endParaRPr lang="ru-RU"/>
          </a:p>
        </p:txBody>
      </p:sp>
    </p:spTree>
    <p:extLst>
      <p:ext uri="{BB962C8B-B14F-4D97-AF65-F5344CB8AC3E}">
        <p14:creationId xmlns:p14="http://schemas.microsoft.com/office/powerpoint/2010/main" val="2524996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D176C-7329-B75E-183B-3DB77FE0D8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a:extLst>
              <a:ext uri="{FF2B5EF4-FFF2-40B4-BE49-F238E27FC236}">
                <a16:creationId xmlns:a16="http://schemas.microsoft.com/office/drawing/2014/main" id="{CC124B77-BE02-63C9-46F7-9D9BF1FD6B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a:extLst>
              <a:ext uri="{FF2B5EF4-FFF2-40B4-BE49-F238E27FC236}">
                <a16:creationId xmlns:a16="http://schemas.microsoft.com/office/drawing/2014/main" id="{26B15790-2AD8-7074-7535-A6C6396FEF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AA956F-06E1-B3D3-1212-B47DBA5B443A}"/>
              </a:ext>
            </a:extLst>
          </p:cNvPr>
          <p:cNvSpPr>
            <a:spLocks noGrp="1"/>
          </p:cNvSpPr>
          <p:nvPr>
            <p:ph type="dt" sz="half" idx="10"/>
          </p:nvPr>
        </p:nvSpPr>
        <p:spPr/>
        <p:txBody>
          <a:bodyPr/>
          <a:lstStyle/>
          <a:p>
            <a:fld id="{CCC5C667-7D7F-437A-B1D7-E1D69A1D525C}" type="datetimeFigureOut">
              <a:rPr lang="ru-RU" smtClean="0"/>
              <a:t>11.04.2026</a:t>
            </a:fld>
            <a:endParaRPr lang="ru-RU"/>
          </a:p>
        </p:txBody>
      </p:sp>
      <p:sp>
        <p:nvSpPr>
          <p:cNvPr id="6" name="Footer Placeholder 5">
            <a:extLst>
              <a:ext uri="{FF2B5EF4-FFF2-40B4-BE49-F238E27FC236}">
                <a16:creationId xmlns:a16="http://schemas.microsoft.com/office/drawing/2014/main" id="{86F5F906-F41A-613D-C3AE-3B504796234E}"/>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FEC0973A-E402-52AB-D5CF-E6A0129E79EF}"/>
              </a:ext>
            </a:extLst>
          </p:cNvPr>
          <p:cNvSpPr>
            <a:spLocks noGrp="1"/>
          </p:cNvSpPr>
          <p:nvPr>
            <p:ph type="sldNum" sz="quarter" idx="12"/>
          </p:nvPr>
        </p:nvSpPr>
        <p:spPr/>
        <p:txBody>
          <a:bodyPr/>
          <a:lstStyle/>
          <a:p>
            <a:fld id="{CDCB5923-F431-4D8B-B3A7-EF02B7910D32}" type="slidenum">
              <a:rPr lang="ru-RU" smtClean="0"/>
              <a:t>‹#›</a:t>
            </a:fld>
            <a:endParaRPr lang="ru-RU"/>
          </a:p>
        </p:txBody>
      </p:sp>
    </p:spTree>
    <p:extLst>
      <p:ext uri="{BB962C8B-B14F-4D97-AF65-F5344CB8AC3E}">
        <p14:creationId xmlns:p14="http://schemas.microsoft.com/office/powerpoint/2010/main" val="1734116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E0AD9-0190-5681-C7D9-AB432329F863}"/>
              </a:ext>
            </a:extLst>
          </p:cNvPr>
          <p:cNvSpPr>
            <a:spLocks noGrp="1"/>
          </p:cNvSpPr>
          <p:nvPr>
            <p:ph type="title"/>
          </p:nvPr>
        </p:nvSpPr>
        <p:spPr/>
        <p:txBody>
          <a:bodyPr/>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A1B07B4D-E0C5-3A2A-F01E-7E47B7A866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9D569460-03E8-7E82-1DF6-76234582986D}"/>
              </a:ext>
            </a:extLst>
          </p:cNvPr>
          <p:cNvSpPr>
            <a:spLocks noGrp="1"/>
          </p:cNvSpPr>
          <p:nvPr>
            <p:ph type="dt" sz="half" idx="10"/>
          </p:nvPr>
        </p:nvSpPr>
        <p:spPr/>
        <p:txBody>
          <a:bodyPr/>
          <a:lstStyle/>
          <a:p>
            <a:fld id="{CCC5C667-7D7F-437A-B1D7-E1D69A1D525C}" type="datetimeFigureOut">
              <a:rPr lang="ru-RU" smtClean="0"/>
              <a:t>11.04.2026</a:t>
            </a:fld>
            <a:endParaRPr lang="ru-RU"/>
          </a:p>
        </p:txBody>
      </p:sp>
      <p:sp>
        <p:nvSpPr>
          <p:cNvPr id="5" name="Footer Placeholder 4">
            <a:extLst>
              <a:ext uri="{FF2B5EF4-FFF2-40B4-BE49-F238E27FC236}">
                <a16:creationId xmlns:a16="http://schemas.microsoft.com/office/drawing/2014/main" id="{EB0C56E8-59B1-024E-50F0-22E7E7030DD6}"/>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89DBC96B-AFA6-D05B-37E4-723704E835E1}"/>
              </a:ext>
            </a:extLst>
          </p:cNvPr>
          <p:cNvSpPr>
            <a:spLocks noGrp="1"/>
          </p:cNvSpPr>
          <p:nvPr>
            <p:ph type="sldNum" sz="quarter" idx="12"/>
          </p:nvPr>
        </p:nvSpPr>
        <p:spPr/>
        <p:txBody>
          <a:bodyPr/>
          <a:lstStyle/>
          <a:p>
            <a:fld id="{CDCB5923-F431-4D8B-B3A7-EF02B7910D32}" type="slidenum">
              <a:rPr lang="ru-RU" smtClean="0"/>
              <a:t>‹#›</a:t>
            </a:fld>
            <a:endParaRPr lang="ru-RU"/>
          </a:p>
        </p:txBody>
      </p:sp>
    </p:spTree>
    <p:extLst>
      <p:ext uri="{BB962C8B-B14F-4D97-AF65-F5344CB8AC3E}">
        <p14:creationId xmlns:p14="http://schemas.microsoft.com/office/powerpoint/2010/main" val="3994608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21AB2F-1996-8AE2-07E2-19E3304AC9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E4212611-E149-6FBD-E861-6DBD08BF43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9A97A843-0C7F-F3F6-2A6F-449F546E8123}"/>
              </a:ext>
            </a:extLst>
          </p:cNvPr>
          <p:cNvSpPr>
            <a:spLocks noGrp="1"/>
          </p:cNvSpPr>
          <p:nvPr>
            <p:ph type="dt" sz="half" idx="10"/>
          </p:nvPr>
        </p:nvSpPr>
        <p:spPr/>
        <p:txBody>
          <a:bodyPr/>
          <a:lstStyle/>
          <a:p>
            <a:fld id="{CCC5C667-7D7F-437A-B1D7-E1D69A1D525C}" type="datetimeFigureOut">
              <a:rPr lang="ru-RU" smtClean="0"/>
              <a:t>11.04.2026</a:t>
            </a:fld>
            <a:endParaRPr lang="ru-RU"/>
          </a:p>
        </p:txBody>
      </p:sp>
      <p:sp>
        <p:nvSpPr>
          <p:cNvPr id="5" name="Footer Placeholder 4">
            <a:extLst>
              <a:ext uri="{FF2B5EF4-FFF2-40B4-BE49-F238E27FC236}">
                <a16:creationId xmlns:a16="http://schemas.microsoft.com/office/drawing/2014/main" id="{B0A389DB-E7D2-8C8C-BF6B-686CC184ECE7}"/>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E91C04AF-8524-BAB4-7092-304086ABE30C}"/>
              </a:ext>
            </a:extLst>
          </p:cNvPr>
          <p:cNvSpPr>
            <a:spLocks noGrp="1"/>
          </p:cNvSpPr>
          <p:nvPr>
            <p:ph type="sldNum" sz="quarter" idx="12"/>
          </p:nvPr>
        </p:nvSpPr>
        <p:spPr/>
        <p:txBody>
          <a:bodyPr/>
          <a:lstStyle/>
          <a:p>
            <a:fld id="{CDCB5923-F431-4D8B-B3A7-EF02B7910D32}" type="slidenum">
              <a:rPr lang="ru-RU" smtClean="0"/>
              <a:t>‹#›</a:t>
            </a:fld>
            <a:endParaRPr lang="ru-RU"/>
          </a:p>
        </p:txBody>
      </p:sp>
    </p:spTree>
    <p:extLst>
      <p:ext uri="{BB962C8B-B14F-4D97-AF65-F5344CB8AC3E}">
        <p14:creationId xmlns:p14="http://schemas.microsoft.com/office/powerpoint/2010/main" val="1186601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1AF841-E6ED-0A26-1563-1E003BFD52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a:extLst>
              <a:ext uri="{FF2B5EF4-FFF2-40B4-BE49-F238E27FC236}">
                <a16:creationId xmlns:a16="http://schemas.microsoft.com/office/drawing/2014/main" id="{6AE25471-7D2B-276F-B9B3-74EB7A8675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173DAE86-FB59-CEE2-843B-BDE2023A97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C5C667-7D7F-437A-B1D7-E1D69A1D525C}" type="datetimeFigureOut">
              <a:rPr lang="ru-RU" smtClean="0"/>
              <a:t>11.04.2026</a:t>
            </a:fld>
            <a:endParaRPr lang="ru-RU"/>
          </a:p>
        </p:txBody>
      </p:sp>
      <p:sp>
        <p:nvSpPr>
          <p:cNvPr id="5" name="Footer Placeholder 4">
            <a:extLst>
              <a:ext uri="{FF2B5EF4-FFF2-40B4-BE49-F238E27FC236}">
                <a16:creationId xmlns:a16="http://schemas.microsoft.com/office/drawing/2014/main" id="{D27B4DB4-6C4A-68FA-BC7C-AC0C3489EF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a:extLst>
              <a:ext uri="{FF2B5EF4-FFF2-40B4-BE49-F238E27FC236}">
                <a16:creationId xmlns:a16="http://schemas.microsoft.com/office/drawing/2014/main" id="{F7390A08-EF92-0D7D-B959-85864E729B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CB5923-F431-4D8B-B3A7-EF02B7910D32}" type="slidenum">
              <a:rPr lang="ru-RU" smtClean="0"/>
              <a:t>‹#›</a:t>
            </a:fld>
            <a:endParaRPr lang="ru-RU"/>
          </a:p>
        </p:txBody>
      </p:sp>
    </p:spTree>
    <p:extLst>
      <p:ext uri="{BB962C8B-B14F-4D97-AF65-F5344CB8AC3E}">
        <p14:creationId xmlns:p14="http://schemas.microsoft.com/office/powerpoint/2010/main" val="40685013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F0A1A2-DC65-E605-2D1D-A273186CEF25}"/>
              </a:ext>
            </a:extLst>
          </p:cNvPr>
          <p:cNvSpPr/>
          <p:nvPr/>
        </p:nvSpPr>
        <p:spPr>
          <a:xfrm>
            <a:off x="0" y="0"/>
            <a:ext cx="12192000" cy="6858000"/>
          </a:xfrm>
          <a:prstGeom prst="rect">
            <a:avLst/>
          </a:prstGeom>
          <a:solidFill>
            <a:srgbClr val="141A0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a:extLst>
              <a:ext uri="{FF2B5EF4-FFF2-40B4-BE49-F238E27FC236}">
                <a16:creationId xmlns:a16="http://schemas.microsoft.com/office/drawing/2014/main" id="{F51022B2-DC1F-2614-135A-3522E02FE328}"/>
              </a:ext>
            </a:extLst>
          </p:cNvPr>
          <p:cNvSpPr>
            <a:spLocks noGrp="1"/>
          </p:cNvSpPr>
          <p:nvPr>
            <p:ph type="ctrTitle"/>
          </p:nvPr>
        </p:nvSpPr>
        <p:spPr/>
        <p:txBody>
          <a:bodyPr>
            <a:normAutofit/>
          </a:bodyPr>
          <a:lstStyle/>
          <a:p>
            <a:r>
              <a:rPr lang="en-US" sz="3000" b="1">
                <a:solidFill>
                  <a:srgbClr val="F7FFEF"/>
                </a:solidFill>
                <a:latin typeface="Calibri" panose="020F0502020204030204" pitchFamily="34" charset="0"/>
              </a:rPr>
              <a:t>CyberGuard</a:t>
            </a:r>
            <a:endParaRPr lang="ru-RU" sz="3000" b="1">
              <a:solidFill>
                <a:srgbClr val="F7FFEF"/>
              </a:solidFill>
              <a:latin typeface="Calibri" panose="020F0502020204030204" pitchFamily="34" charset="0"/>
            </a:endParaRPr>
          </a:p>
        </p:txBody>
      </p:sp>
      <p:sp>
        <p:nvSpPr>
          <p:cNvPr id="3" name="Subtitle 2">
            <a:extLst>
              <a:ext uri="{FF2B5EF4-FFF2-40B4-BE49-F238E27FC236}">
                <a16:creationId xmlns:a16="http://schemas.microsoft.com/office/drawing/2014/main" id="{89323667-C904-B8F2-78E6-77F5BAAAA930}"/>
              </a:ext>
            </a:extLst>
          </p:cNvPr>
          <p:cNvSpPr>
            <a:spLocks noGrp="1"/>
          </p:cNvSpPr>
          <p:nvPr>
            <p:ph type="subTitle" idx="1"/>
          </p:nvPr>
        </p:nvSpPr>
        <p:spPr/>
        <p:txBody>
          <a:bodyPr>
            <a:normAutofit/>
          </a:bodyPr>
          <a:lstStyle/>
          <a:p>
            <a:r>
              <a:rPr lang="en-US" sz="2000">
                <a:solidFill>
                  <a:srgbClr val="E8F7D9"/>
                </a:solidFill>
                <a:latin typeface="Calibri" panose="020F0502020204030204" pitchFamily="34" charset="0"/>
              </a:rPr>
              <a:t>Phase III: Data Management and Integration Layer`nPrepared for Assignment 4 Presentation</a:t>
            </a:r>
            <a:endParaRPr lang="ru-RU" sz="2000">
              <a:solidFill>
                <a:srgbClr val="E8F7D9"/>
              </a:solidFill>
              <a:latin typeface="Calibri" panose="020F0502020204030204" pitchFamily="34" charset="0"/>
            </a:endParaRPr>
          </a:p>
        </p:txBody>
      </p:sp>
      <p:sp>
        <p:nvSpPr>
          <p:cNvPr id="5" name="Rectangle 4">
            <a:extLst>
              <a:ext uri="{FF2B5EF4-FFF2-40B4-BE49-F238E27FC236}">
                <a16:creationId xmlns:a16="http://schemas.microsoft.com/office/drawing/2014/main" id="{AFC91E66-F0F2-1463-8509-EC6FE243B251}"/>
              </a:ext>
            </a:extLst>
          </p:cNvPr>
          <p:cNvSpPr/>
          <p:nvPr/>
        </p:nvSpPr>
        <p:spPr>
          <a:xfrm>
            <a:off x="0" y="0"/>
            <a:ext cx="12192000" cy="355600"/>
          </a:xfrm>
          <a:prstGeom prst="rect">
            <a:avLst/>
          </a:prstGeom>
          <a:solidFill>
            <a:srgbClr val="71BF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16CDD890-2042-CFF8-1906-806DE28F54C2}"/>
              </a:ext>
            </a:extLst>
          </p:cNvPr>
          <p:cNvSpPr txBox="1"/>
          <p:nvPr/>
        </p:nvSpPr>
        <p:spPr>
          <a:xfrm>
            <a:off x="304800" y="6413500"/>
            <a:ext cx="11582400" cy="246221"/>
          </a:xfrm>
          <a:prstGeom prst="rect">
            <a:avLst/>
          </a:prstGeom>
          <a:noFill/>
        </p:spPr>
        <p:txBody>
          <a:bodyPr vert="horz" rtlCol="0">
            <a:spAutoFit/>
          </a:bodyPr>
          <a:lstStyle/>
          <a:p>
            <a:r>
              <a:rPr lang="en-US" sz="1000">
                <a:solidFill>
                  <a:srgbClr val="E8F7D9"/>
                </a:solidFill>
                <a:latin typeface="Calibri" panose="020F0502020204030204" pitchFamily="34" charset="0"/>
              </a:rPr>
              <a:t>CyberGuard Phase III - Assignment 4</a:t>
            </a:r>
            <a:endParaRPr lang="ru-RU" sz="1000">
              <a:solidFill>
                <a:srgbClr val="E8F7D9"/>
              </a:solidFill>
              <a:latin typeface="Calibri" panose="020F0502020204030204" pitchFamily="34" charset="0"/>
            </a:endParaRPr>
          </a:p>
        </p:txBody>
      </p:sp>
    </p:spTree>
    <p:extLst>
      <p:ext uri="{BB962C8B-B14F-4D97-AF65-F5344CB8AC3E}">
        <p14:creationId xmlns:p14="http://schemas.microsoft.com/office/powerpoint/2010/main" val="2547733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A481733-86EA-E3BC-7C3E-E7623EA18455}"/>
              </a:ext>
            </a:extLst>
          </p:cNvPr>
          <p:cNvSpPr/>
          <p:nvPr/>
        </p:nvSpPr>
        <p:spPr>
          <a:xfrm>
            <a:off x="0" y="0"/>
            <a:ext cx="12192000" cy="6858000"/>
          </a:xfrm>
          <a:prstGeom prst="rect">
            <a:avLst/>
          </a:prstGeom>
          <a:solidFill>
            <a:srgbClr val="141A0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a:extLst>
              <a:ext uri="{FF2B5EF4-FFF2-40B4-BE49-F238E27FC236}">
                <a16:creationId xmlns:a16="http://schemas.microsoft.com/office/drawing/2014/main" id="{BEF2CEC9-E801-00FB-FAAE-A3327295AD67}"/>
              </a:ext>
            </a:extLst>
          </p:cNvPr>
          <p:cNvSpPr>
            <a:spLocks noGrp="1"/>
          </p:cNvSpPr>
          <p:nvPr>
            <p:ph type="title"/>
          </p:nvPr>
        </p:nvSpPr>
        <p:spPr/>
        <p:txBody>
          <a:bodyPr>
            <a:normAutofit/>
          </a:bodyPr>
          <a:lstStyle/>
          <a:p>
            <a:r>
              <a:rPr lang="en-US" sz="2600" b="1">
                <a:solidFill>
                  <a:srgbClr val="F7FFEF"/>
                </a:solidFill>
                <a:latin typeface="Calibri" panose="020F0502020204030204" pitchFamily="34" charset="0"/>
              </a:rPr>
              <a:t>1. Assignment Goal and Scope</a:t>
            </a:r>
            <a:endParaRPr lang="ru-RU" sz="2600" b="1">
              <a:solidFill>
                <a:srgbClr val="F7FFEF"/>
              </a:solidFill>
              <a:latin typeface="Calibri" panose="020F0502020204030204" pitchFamily="34" charset="0"/>
            </a:endParaRPr>
          </a:p>
        </p:txBody>
      </p:sp>
      <p:sp>
        <p:nvSpPr>
          <p:cNvPr id="3" name="Content Placeholder 2">
            <a:extLst>
              <a:ext uri="{FF2B5EF4-FFF2-40B4-BE49-F238E27FC236}">
                <a16:creationId xmlns:a16="http://schemas.microsoft.com/office/drawing/2014/main" id="{C65D9D38-A3C2-3E0E-1BF4-EA691D378B16}"/>
              </a:ext>
            </a:extLst>
          </p:cNvPr>
          <p:cNvSpPr>
            <a:spLocks noGrp="1"/>
          </p:cNvSpPr>
          <p:nvPr>
            <p:ph idx="1"/>
          </p:nvPr>
        </p:nvSpPr>
        <p:spPr/>
        <p:txBody>
          <a:bodyPr/>
          <a:lstStyle/>
          <a:p>
            <a:pPr>
              <a:spcAft>
                <a:spcPts val="600"/>
              </a:spcAft>
            </a:pPr>
            <a:r>
              <a:rPr lang="en-US" sz="2000">
                <a:solidFill>
                  <a:srgbClr val="F8FFF1"/>
                </a:solidFill>
                <a:latin typeface="Calibri" panose="020F0502020204030204" pitchFamily="34" charset="0"/>
              </a:rPr>
              <a:t>Extend the existing CyberGuard project with a modern data management layer.</a:t>
            </a:r>
          </a:p>
          <a:p>
            <a:pPr>
              <a:spcAft>
                <a:spcPts val="600"/>
              </a:spcAft>
            </a:pPr>
            <a:r>
              <a:rPr lang="en-US" sz="2000">
                <a:solidFill>
                  <a:srgbClr val="F8FFF1"/>
                </a:solidFill>
                <a:latin typeface="Calibri" panose="020F0502020204030204" pitchFamily="34" charset="0"/>
              </a:rPr>
              <a:t>Cover all required topics: data access, databases, APIs, async processing, caching, security, transformation, and monitoring.</a:t>
            </a:r>
          </a:p>
          <a:p>
            <a:pPr>
              <a:spcAft>
                <a:spcPts val="600"/>
              </a:spcAft>
            </a:pPr>
            <a:r>
              <a:rPr lang="en-US" sz="2000">
                <a:solidFill>
                  <a:srgbClr val="F8FFF1"/>
                </a:solidFill>
                <a:latin typeface="Calibri" panose="020F0502020204030204" pitchFamily="34" charset="0"/>
              </a:rPr>
              <a:t>Use modular backend design with clear separation of controller, service, and data layers.</a:t>
            </a:r>
          </a:p>
          <a:p>
            <a:pPr>
              <a:spcAft>
                <a:spcPts val="600"/>
              </a:spcAft>
            </a:pPr>
            <a:r>
              <a:rPr lang="en-US" sz="2000">
                <a:solidFill>
                  <a:srgbClr val="F8FFF1"/>
                </a:solidFill>
                <a:latin typeface="Calibri" panose="020F0502020204030204" pitchFamily="34" charset="0"/>
              </a:rPr>
              <a:t>Provide a practical implementation that can be demonstrated live during class.</a:t>
            </a:r>
            <a:endParaRPr lang="ru-RU" sz="2000">
              <a:solidFill>
                <a:srgbClr val="F8FFF1"/>
              </a:solidFill>
              <a:latin typeface="Calibri" panose="020F0502020204030204" pitchFamily="34" charset="0"/>
            </a:endParaRPr>
          </a:p>
        </p:txBody>
      </p:sp>
      <p:sp>
        <p:nvSpPr>
          <p:cNvPr id="5" name="Rectangle 4">
            <a:extLst>
              <a:ext uri="{FF2B5EF4-FFF2-40B4-BE49-F238E27FC236}">
                <a16:creationId xmlns:a16="http://schemas.microsoft.com/office/drawing/2014/main" id="{2D5D6776-7E7A-8ABB-1DBF-62BD1281A60D}"/>
              </a:ext>
            </a:extLst>
          </p:cNvPr>
          <p:cNvSpPr/>
          <p:nvPr/>
        </p:nvSpPr>
        <p:spPr>
          <a:xfrm>
            <a:off x="0" y="0"/>
            <a:ext cx="12192000" cy="355600"/>
          </a:xfrm>
          <a:prstGeom prst="rect">
            <a:avLst/>
          </a:prstGeom>
          <a:solidFill>
            <a:srgbClr val="71BF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355C5EEE-39F9-ACCB-C7FF-C31F6CFEC1EE}"/>
              </a:ext>
            </a:extLst>
          </p:cNvPr>
          <p:cNvSpPr txBox="1"/>
          <p:nvPr/>
        </p:nvSpPr>
        <p:spPr>
          <a:xfrm>
            <a:off x="304800" y="6413500"/>
            <a:ext cx="11582400" cy="246221"/>
          </a:xfrm>
          <a:prstGeom prst="rect">
            <a:avLst/>
          </a:prstGeom>
          <a:noFill/>
        </p:spPr>
        <p:txBody>
          <a:bodyPr vert="horz" rtlCol="0">
            <a:spAutoFit/>
          </a:bodyPr>
          <a:lstStyle/>
          <a:p>
            <a:r>
              <a:rPr lang="en-US" sz="1000">
                <a:solidFill>
                  <a:srgbClr val="E8F7D9"/>
                </a:solidFill>
                <a:latin typeface="Calibri" panose="020F0502020204030204" pitchFamily="34" charset="0"/>
              </a:rPr>
              <a:t>CyberGuard Phase III - Assignment 4</a:t>
            </a:r>
            <a:endParaRPr lang="ru-RU" sz="1000">
              <a:solidFill>
                <a:srgbClr val="E8F7D9"/>
              </a:solidFill>
              <a:latin typeface="Calibri" panose="020F0502020204030204" pitchFamily="34" charset="0"/>
            </a:endParaRPr>
          </a:p>
        </p:txBody>
      </p:sp>
    </p:spTree>
    <p:extLst>
      <p:ext uri="{BB962C8B-B14F-4D97-AF65-F5344CB8AC3E}">
        <p14:creationId xmlns:p14="http://schemas.microsoft.com/office/powerpoint/2010/main" val="220745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3D791D4-FE9D-8F54-9C8C-EB25BAA49818}"/>
              </a:ext>
            </a:extLst>
          </p:cNvPr>
          <p:cNvSpPr/>
          <p:nvPr/>
        </p:nvSpPr>
        <p:spPr>
          <a:xfrm>
            <a:off x="0" y="0"/>
            <a:ext cx="12192000" cy="6858000"/>
          </a:xfrm>
          <a:prstGeom prst="rect">
            <a:avLst/>
          </a:prstGeom>
          <a:solidFill>
            <a:srgbClr val="141A0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a:extLst>
              <a:ext uri="{FF2B5EF4-FFF2-40B4-BE49-F238E27FC236}">
                <a16:creationId xmlns:a16="http://schemas.microsoft.com/office/drawing/2014/main" id="{C2B5AA42-16DE-CE63-6427-F759899E415D}"/>
              </a:ext>
            </a:extLst>
          </p:cNvPr>
          <p:cNvSpPr>
            <a:spLocks noGrp="1"/>
          </p:cNvSpPr>
          <p:nvPr>
            <p:ph type="title"/>
          </p:nvPr>
        </p:nvSpPr>
        <p:spPr/>
        <p:txBody>
          <a:bodyPr>
            <a:normAutofit/>
          </a:bodyPr>
          <a:lstStyle/>
          <a:p>
            <a:r>
              <a:rPr lang="en-US" sz="2600" b="1">
                <a:solidFill>
                  <a:srgbClr val="F7FFEF"/>
                </a:solidFill>
                <a:latin typeface="Calibri" panose="020F0502020204030204" pitchFamily="34" charset="0"/>
              </a:rPr>
              <a:t>2. Project Evolution Across Phases</a:t>
            </a:r>
            <a:endParaRPr lang="ru-RU" sz="2600" b="1">
              <a:solidFill>
                <a:srgbClr val="F7FFEF"/>
              </a:solidFill>
              <a:latin typeface="Calibri" panose="020F0502020204030204" pitchFamily="34" charset="0"/>
            </a:endParaRPr>
          </a:p>
        </p:txBody>
      </p:sp>
      <p:sp>
        <p:nvSpPr>
          <p:cNvPr id="3" name="Content Placeholder 2">
            <a:extLst>
              <a:ext uri="{FF2B5EF4-FFF2-40B4-BE49-F238E27FC236}">
                <a16:creationId xmlns:a16="http://schemas.microsoft.com/office/drawing/2014/main" id="{BA342BF8-9672-43AC-E467-9FC5D0F2B709}"/>
              </a:ext>
            </a:extLst>
          </p:cNvPr>
          <p:cNvSpPr>
            <a:spLocks noGrp="1"/>
          </p:cNvSpPr>
          <p:nvPr>
            <p:ph idx="1"/>
          </p:nvPr>
        </p:nvSpPr>
        <p:spPr/>
        <p:txBody>
          <a:bodyPr/>
          <a:lstStyle/>
          <a:p>
            <a:pPr>
              <a:spcAft>
                <a:spcPts val="600"/>
              </a:spcAft>
            </a:pPr>
            <a:r>
              <a:rPr lang="en-US" sz="2000">
                <a:solidFill>
                  <a:srgbClr val="F8FFF1"/>
                </a:solidFill>
                <a:latin typeface="Calibri" panose="020F0502020204030204" pitchFamily="34" charset="0"/>
              </a:rPr>
              <a:t>Phase I: React-based cybersecurity website and dashboard user interface.</a:t>
            </a:r>
          </a:p>
          <a:p>
            <a:pPr>
              <a:spcAft>
                <a:spcPts val="600"/>
              </a:spcAft>
            </a:pPr>
            <a:r>
              <a:rPr lang="en-US" sz="2000">
                <a:solidFill>
                  <a:srgbClr val="F8FFF1"/>
                </a:solidFill>
                <a:latin typeface="Calibri" panose="020F0502020204030204" pitchFamily="34" charset="0"/>
              </a:rPr>
              <a:t>Phase II: Enterprise integration layer with orchestration, messaging, correlation, and fault handling on port 3001.</a:t>
            </a:r>
          </a:p>
          <a:p>
            <a:pPr>
              <a:spcAft>
                <a:spcPts val="600"/>
              </a:spcAft>
            </a:pPr>
            <a:r>
              <a:rPr lang="en-US" sz="2000">
                <a:solidFill>
                  <a:srgbClr val="F8FFF1"/>
                </a:solidFill>
                <a:latin typeface="Calibri" panose="020F0502020204030204" pitchFamily="34" charset="0"/>
              </a:rPr>
              <a:t>Phase III: Data management backend with databases, APIs, caching, security, and monitoring on port 3002.</a:t>
            </a:r>
          </a:p>
          <a:p>
            <a:pPr>
              <a:spcAft>
                <a:spcPts val="600"/>
              </a:spcAft>
            </a:pPr>
            <a:r>
              <a:rPr lang="en-US" sz="2000">
                <a:solidFill>
                  <a:srgbClr val="F8FFF1"/>
                </a:solidFill>
                <a:latin typeface="Calibri" panose="020F0502020204030204" pitchFamily="34" charset="0"/>
              </a:rPr>
              <a:t>Separate Phase II and Phase III servers were kept intentionally to avoid regressions and show layered evolution.</a:t>
            </a:r>
            <a:endParaRPr lang="ru-RU" sz="2000">
              <a:solidFill>
                <a:srgbClr val="F8FFF1"/>
              </a:solidFill>
              <a:latin typeface="Calibri" panose="020F0502020204030204" pitchFamily="34" charset="0"/>
            </a:endParaRPr>
          </a:p>
        </p:txBody>
      </p:sp>
      <p:sp>
        <p:nvSpPr>
          <p:cNvPr id="5" name="Rectangle 4">
            <a:extLst>
              <a:ext uri="{FF2B5EF4-FFF2-40B4-BE49-F238E27FC236}">
                <a16:creationId xmlns:a16="http://schemas.microsoft.com/office/drawing/2014/main" id="{CB4389D0-37F5-74FF-7A1E-309CBC49D093}"/>
              </a:ext>
            </a:extLst>
          </p:cNvPr>
          <p:cNvSpPr/>
          <p:nvPr/>
        </p:nvSpPr>
        <p:spPr>
          <a:xfrm>
            <a:off x="0" y="0"/>
            <a:ext cx="12192000" cy="355600"/>
          </a:xfrm>
          <a:prstGeom prst="rect">
            <a:avLst/>
          </a:prstGeom>
          <a:solidFill>
            <a:srgbClr val="71BF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2C153D4D-B62D-B9DC-972C-EA054A77D669}"/>
              </a:ext>
            </a:extLst>
          </p:cNvPr>
          <p:cNvSpPr txBox="1"/>
          <p:nvPr/>
        </p:nvSpPr>
        <p:spPr>
          <a:xfrm>
            <a:off x="304800" y="6413500"/>
            <a:ext cx="11582400" cy="246221"/>
          </a:xfrm>
          <a:prstGeom prst="rect">
            <a:avLst/>
          </a:prstGeom>
          <a:noFill/>
        </p:spPr>
        <p:txBody>
          <a:bodyPr vert="horz" rtlCol="0">
            <a:spAutoFit/>
          </a:bodyPr>
          <a:lstStyle/>
          <a:p>
            <a:r>
              <a:rPr lang="en-US" sz="1000">
                <a:solidFill>
                  <a:srgbClr val="E8F7D9"/>
                </a:solidFill>
                <a:latin typeface="Calibri" panose="020F0502020204030204" pitchFamily="34" charset="0"/>
              </a:rPr>
              <a:t>CyberGuard Phase III - Assignment 4</a:t>
            </a:r>
            <a:endParaRPr lang="ru-RU" sz="1000">
              <a:solidFill>
                <a:srgbClr val="E8F7D9"/>
              </a:solidFill>
              <a:latin typeface="Calibri" panose="020F0502020204030204" pitchFamily="34" charset="0"/>
            </a:endParaRPr>
          </a:p>
        </p:txBody>
      </p:sp>
    </p:spTree>
    <p:extLst>
      <p:ext uri="{BB962C8B-B14F-4D97-AF65-F5344CB8AC3E}">
        <p14:creationId xmlns:p14="http://schemas.microsoft.com/office/powerpoint/2010/main" val="3293895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333DAFE-87CB-866B-A2B1-28D0CCBD3550}"/>
              </a:ext>
            </a:extLst>
          </p:cNvPr>
          <p:cNvSpPr/>
          <p:nvPr/>
        </p:nvSpPr>
        <p:spPr>
          <a:xfrm>
            <a:off x="0" y="0"/>
            <a:ext cx="12192000" cy="6858000"/>
          </a:xfrm>
          <a:prstGeom prst="rect">
            <a:avLst/>
          </a:prstGeom>
          <a:solidFill>
            <a:srgbClr val="141A0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a:extLst>
              <a:ext uri="{FF2B5EF4-FFF2-40B4-BE49-F238E27FC236}">
                <a16:creationId xmlns:a16="http://schemas.microsoft.com/office/drawing/2014/main" id="{515DE507-1B2E-6A5C-1F3A-295E74AB0BAA}"/>
              </a:ext>
            </a:extLst>
          </p:cNvPr>
          <p:cNvSpPr>
            <a:spLocks noGrp="1"/>
          </p:cNvSpPr>
          <p:nvPr>
            <p:ph type="title"/>
          </p:nvPr>
        </p:nvSpPr>
        <p:spPr/>
        <p:txBody>
          <a:bodyPr>
            <a:normAutofit/>
          </a:bodyPr>
          <a:lstStyle/>
          <a:p>
            <a:r>
              <a:rPr lang="en-US" sz="2600" b="1">
                <a:solidFill>
                  <a:srgbClr val="F7FFEF"/>
                </a:solidFill>
                <a:latin typeface="Calibri" panose="020F0502020204030204" pitchFamily="34" charset="0"/>
              </a:rPr>
              <a:t>3. Final Architecture Overview</a:t>
            </a:r>
            <a:endParaRPr lang="ru-RU" sz="2600" b="1">
              <a:solidFill>
                <a:srgbClr val="F7FFEF"/>
              </a:solidFill>
              <a:latin typeface="Calibri" panose="020F0502020204030204" pitchFamily="34" charset="0"/>
            </a:endParaRPr>
          </a:p>
        </p:txBody>
      </p:sp>
      <p:sp>
        <p:nvSpPr>
          <p:cNvPr id="3" name="Content Placeholder 2">
            <a:extLst>
              <a:ext uri="{FF2B5EF4-FFF2-40B4-BE49-F238E27FC236}">
                <a16:creationId xmlns:a16="http://schemas.microsoft.com/office/drawing/2014/main" id="{BEC02922-2C16-DAE1-4797-64FC6F0C8896}"/>
              </a:ext>
            </a:extLst>
          </p:cNvPr>
          <p:cNvSpPr>
            <a:spLocks noGrp="1"/>
          </p:cNvSpPr>
          <p:nvPr>
            <p:ph idx="1"/>
          </p:nvPr>
        </p:nvSpPr>
        <p:spPr/>
        <p:txBody>
          <a:bodyPr/>
          <a:lstStyle/>
          <a:p>
            <a:pPr>
              <a:spcAft>
                <a:spcPts val="600"/>
              </a:spcAft>
            </a:pPr>
            <a:r>
              <a:rPr lang="en-US" sz="2000">
                <a:solidFill>
                  <a:srgbClr val="F8FFF1"/>
                </a:solidFill>
                <a:latin typeface="Calibri" panose="020F0502020204030204" pitchFamily="34" charset="0"/>
              </a:rPr>
              <a:t>Frontend: React + Vite + TypeScript + Tailwind UI.</a:t>
            </a:r>
          </a:p>
          <a:p>
            <a:pPr>
              <a:spcAft>
                <a:spcPts val="600"/>
              </a:spcAft>
            </a:pPr>
            <a:r>
              <a:rPr lang="en-US" sz="2000">
                <a:solidFill>
                  <a:srgbClr val="F8FFF1"/>
                </a:solidFill>
                <a:latin typeface="Calibri" panose="020F0502020204030204" pitchFamily="34" charset="0"/>
              </a:rPr>
              <a:t>Phase III backend: Express.js server exposing /api/v3 REST endpoints.</a:t>
            </a:r>
          </a:p>
          <a:p>
            <a:pPr>
              <a:spcAft>
                <a:spcPts val="600"/>
              </a:spcAft>
            </a:pPr>
            <a:r>
              <a:rPr lang="en-US" sz="2000">
                <a:solidFill>
                  <a:srgbClr val="F8FFF1"/>
                </a:solidFill>
                <a:latin typeface="Calibri" panose="020F0502020204030204" pitchFamily="34" charset="0"/>
              </a:rPr>
              <a:t>Modular backend flow: routes -&gt; controllers -&gt; services -&gt; models -&gt; databases.</a:t>
            </a:r>
          </a:p>
          <a:p>
            <a:pPr>
              <a:spcAft>
                <a:spcPts val="600"/>
              </a:spcAft>
            </a:pPr>
            <a:r>
              <a:rPr lang="en-US" sz="2000">
                <a:solidFill>
                  <a:srgbClr val="F8FFF1"/>
                </a:solidFill>
                <a:latin typeface="Calibri" panose="020F0502020204030204" pitchFamily="34" charset="0"/>
              </a:rPr>
              <a:t>Support services: cache manager, async processor, data transformer, logger, and security middleware.</a:t>
            </a:r>
            <a:endParaRPr lang="ru-RU" sz="2000">
              <a:solidFill>
                <a:srgbClr val="F8FFF1"/>
              </a:solidFill>
              <a:latin typeface="Calibri" panose="020F0502020204030204" pitchFamily="34" charset="0"/>
            </a:endParaRPr>
          </a:p>
        </p:txBody>
      </p:sp>
      <p:sp>
        <p:nvSpPr>
          <p:cNvPr id="5" name="Rectangle 4">
            <a:extLst>
              <a:ext uri="{FF2B5EF4-FFF2-40B4-BE49-F238E27FC236}">
                <a16:creationId xmlns:a16="http://schemas.microsoft.com/office/drawing/2014/main" id="{67F00FBF-E9A1-9256-ABF1-A2840E54A27A}"/>
              </a:ext>
            </a:extLst>
          </p:cNvPr>
          <p:cNvSpPr/>
          <p:nvPr/>
        </p:nvSpPr>
        <p:spPr>
          <a:xfrm>
            <a:off x="0" y="0"/>
            <a:ext cx="12192000" cy="355600"/>
          </a:xfrm>
          <a:prstGeom prst="rect">
            <a:avLst/>
          </a:prstGeom>
          <a:solidFill>
            <a:srgbClr val="71BF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7D5643D3-B943-8777-9980-5BD76326FD3F}"/>
              </a:ext>
            </a:extLst>
          </p:cNvPr>
          <p:cNvSpPr txBox="1"/>
          <p:nvPr/>
        </p:nvSpPr>
        <p:spPr>
          <a:xfrm>
            <a:off x="304800" y="6413500"/>
            <a:ext cx="11582400" cy="246221"/>
          </a:xfrm>
          <a:prstGeom prst="rect">
            <a:avLst/>
          </a:prstGeom>
          <a:noFill/>
        </p:spPr>
        <p:txBody>
          <a:bodyPr vert="horz" rtlCol="0">
            <a:spAutoFit/>
          </a:bodyPr>
          <a:lstStyle/>
          <a:p>
            <a:r>
              <a:rPr lang="en-US" sz="1000">
                <a:solidFill>
                  <a:srgbClr val="E8F7D9"/>
                </a:solidFill>
                <a:latin typeface="Calibri" panose="020F0502020204030204" pitchFamily="34" charset="0"/>
              </a:rPr>
              <a:t>CyberGuard Phase III - Assignment 4</a:t>
            </a:r>
            <a:endParaRPr lang="ru-RU" sz="1000">
              <a:solidFill>
                <a:srgbClr val="E8F7D9"/>
              </a:solidFill>
              <a:latin typeface="Calibri" panose="020F0502020204030204" pitchFamily="34" charset="0"/>
            </a:endParaRPr>
          </a:p>
        </p:txBody>
      </p:sp>
    </p:spTree>
    <p:extLst>
      <p:ext uri="{BB962C8B-B14F-4D97-AF65-F5344CB8AC3E}">
        <p14:creationId xmlns:p14="http://schemas.microsoft.com/office/powerpoint/2010/main" val="2316152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DE4C43-C345-2801-6C47-B74DBAF69723}"/>
              </a:ext>
            </a:extLst>
          </p:cNvPr>
          <p:cNvSpPr/>
          <p:nvPr/>
        </p:nvSpPr>
        <p:spPr>
          <a:xfrm>
            <a:off x="0" y="0"/>
            <a:ext cx="12192000" cy="6858000"/>
          </a:xfrm>
          <a:prstGeom prst="rect">
            <a:avLst/>
          </a:prstGeom>
          <a:solidFill>
            <a:srgbClr val="141A0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a:extLst>
              <a:ext uri="{FF2B5EF4-FFF2-40B4-BE49-F238E27FC236}">
                <a16:creationId xmlns:a16="http://schemas.microsoft.com/office/drawing/2014/main" id="{C85B29D2-C50F-3E34-4779-460DDCF34AB0}"/>
              </a:ext>
            </a:extLst>
          </p:cNvPr>
          <p:cNvSpPr>
            <a:spLocks noGrp="1"/>
          </p:cNvSpPr>
          <p:nvPr>
            <p:ph type="title"/>
          </p:nvPr>
        </p:nvSpPr>
        <p:spPr/>
        <p:txBody>
          <a:bodyPr>
            <a:normAutofit/>
          </a:bodyPr>
          <a:lstStyle/>
          <a:p>
            <a:r>
              <a:rPr lang="en-US" sz="2600" b="1">
                <a:solidFill>
                  <a:srgbClr val="F7FFEF"/>
                </a:solidFill>
                <a:latin typeface="Calibri" panose="020F0502020204030204" pitchFamily="34" charset="0"/>
              </a:rPr>
              <a:t>4. Data Access Layer Implementation</a:t>
            </a:r>
            <a:endParaRPr lang="ru-RU" sz="2600" b="1">
              <a:solidFill>
                <a:srgbClr val="F7FFEF"/>
              </a:solidFill>
              <a:latin typeface="Calibri" panose="020F0502020204030204" pitchFamily="34" charset="0"/>
            </a:endParaRPr>
          </a:p>
        </p:txBody>
      </p:sp>
      <p:sp>
        <p:nvSpPr>
          <p:cNvPr id="3" name="Content Placeholder 2">
            <a:extLst>
              <a:ext uri="{FF2B5EF4-FFF2-40B4-BE49-F238E27FC236}">
                <a16:creationId xmlns:a16="http://schemas.microsoft.com/office/drawing/2014/main" id="{228B0A8D-F60B-7AA4-E871-C47BACA27DAF}"/>
              </a:ext>
            </a:extLst>
          </p:cNvPr>
          <p:cNvSpPr>
            <a:spLocks noGrp="1"/>
          </p:cNvSpPr>
          <p:nvPr>
            <p:ph idx="1"/>
          </p:nvPr>
        </p:nvSpPr>
        <p:spPr/>
        <p:txBody>
          <a:bodyPr/>
          <a:lstStyle/>
          <a:p>
            <a:pPr>
              <a:spcAft>
                <a:spcPts val="600"/>
              </a:spcAft>
            </a:pPr>
            <a:r>
              <a:rPr lang="en-US" sz="2000">
                <a:solidFill>
                  <a:srgbClr val="F8FFF1"/>
                </a:solidFill>
                <a:latin typeface="Calibri" panose="020F0502020204030204" pitchFamily="34" charset="0"/>
              </a:rPr>
              <a:t>Controllers remain thin and delegate work to services such as authService, incidentService, threatIntelService, and systemService.</a:t>
            </a:r>
          </a:p>
          <a:p>
            <a:pPr>
              <a:spcAft>
                <a:spcPts val="600"/>
              </a:spcAft>
            </a:pPr>
            <a:r>
              <a:rPr lang="en-US" sz="2000">
                <a:solidFill>
                  <a:srgbClr val="F8FFF1"/>
                </a:solidFill>
                <a:latin typeface="Calibri" panose="020F0502020204030204" pitchFamily="34" charset="0"/>
              </a:rPr>
              <a:t>Services contain validation flow, caching decisions, audit actions, async job triggering, and transformations.</a:t>
            </a:r>
          </a:p>
          <a:p>
            <a:pPr>
              <a:spcAft>
                <a:spcPts val="600"/>
              </a:spcAft>
            </a:pPr>
            <a:r>
              <a:rPr lang="en-US" sz="2000">
                <a:solidFill>
                  <a:srgbClr val="F8FFF1"/>
                </a:solidFill>
                <a:latin typeface="Calibri" panose="020F0502020204030204" pitchFamily="34" charset="0"/>
              </a:rPr>
              <a:t>Models isolate database operations for SQLite and NeDB.</a:t>
            </a:r>
          </a:p>
          <a:p>
            <a:pPr>
              <a:spcAft>
                <a:spcPts val="600"/>
              </a:spcAft>
            </a:pPr>
            <a:r>
              <a:rPr lang="en-US" sz="2000">
                <a:solidFill>
                  <a:srgbClr val="F8FFF1"/>
                </a:solidFill>
                <a:latin typeface="Calibri" panose="020F0502020204030204" pitchFamily="34" charset="0"/>
              </a:rPr>
              <a:t>This design satisfies the assignment requirement for modular CRUD with proper separation of concerns.</a:t>
            </a:r>
            <a:endParaRPr lang="ru-RU" sz="2000">
              <a:solidFill>
                <a:srgbClr val="F8FFF1"/>
              </a:solidFill>
              <a:latin typeface="Calibri" panose="020F0502020204030204" pitchFamily="34" charset="0"/>
            </a:endParaRPr>
          </a:p>
        </p:txBody>
      </p:sp>
      <p:sp>
        <p:nvSpPr>
          <p:cNvPr id="5" name="Rectangle 4">
            <a:extLst>
              <a:ext uri="{FF2B5EF4-FFF2-40B4-BE49-F238E27FC236}">
                <a16:creationId xmlns:a16="http://schemas.microsoft.com/office/drawing/2014/main" id="{E5A938BD-C5B2-B476-EDCD-1CD9D2968EF3}"/>
              </a:ext>
            </a:extLst>
          </p:cNvPr>
          <p:cNvSpPr/>
          <p:nvPr/>
        </p:nvSpPr>
        <p:spPr>
          <a:xfrm>
            <a:off x="0" y="0"/>
            <a:ext cx="12192000" cy="355600"/>
          </a:xfrm>
          <a:prstGeom prst="rect">
            <a:avLst/>
          </a:prstGeom>
          <a:solidFill>
            <a:srgbClr val="71BF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68796094-8FB6-9F82-55B6-1E75FE498281}"/>
              </a:ext>
            </a:extLst>
          </p:cNvPr>
          <p:cNvSpPr txBox="1"/>
          <p:nvPr/>
        </p:nvSpPr>
        <p:spPr>
          <a:xfrm>
            <a:off x="304800" y="6413500"/>
            <a:ext cx="11582400" cy="246221"/>
          </a:xfrm>
          <a:prstGeom prst="rect">
            <a:avLst/>
          </a:prstGeom>
          <a:noFill/>
        </p:spPr>
        <p:txBody>
          <a:bodyPr vert="horz" rtlCol="0">
            <a:spAutoFit/>
          </a:bodyPr>
          <a:lstStyle/>
          <a:p>
            <a:r>
              <a:rPr lang="en-US" sz="1000">
                <a:solidFill>
                  <a:srgbClr val="E8F7D9"/>
                </a:solidFill>
                <a:latin typeface="Calibri" panose="020F0502020204030204" pitchFamily="34" charset="0"/>
              </a:rPr>
              <a:t>CyberGuard Phase III - Assignment 4</a:t>
            </a:r>
            <a:endParaRPr lang="ru-RU" sz="1000">
              <a:solidFill>
                <a:srgbClr val="E8F7D9"/>
              </a:solidFill>
              <a:latin typeface="Calibri" panose="020F0502020204030204" pitchFamily="34" charset="0"/>
            </a:endParaRPr>
          </a:p>
        </p:txBody>
      </p:sp>
    </p:spTree>
    <p:extLst>
      <p:ext uri="{BB962C8B-B14F-4D97-AF65-F5344CB8AC3E}">
        <p14:creationId xmlns:p14="http://schemas.microsoft.com/office/powerpoint/2010/main" val="459770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C19599-AF03-A230-DDAC-26F32E4902FD}"/>
              </a:ext>
            </a:extLst>
          </p:cNvPr>
          <p:cNvSpPr/>
          <p:nvPr/>
        </p:nvSpPr>
        <p:spPr>
          <a:xfrm>
            <a:off x="0" y="0"/>
            <a:ext cx="12192000" cy="6858000"/>
          </a:xfrm>
          <a:prstGeom prst="rect">
            <a:avLst/>
          </a:prstGeom>
          <a:solidFill>
            <a:srgbClr val="141A0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a:extLst>
              <a:ext uri="{FF2B5EF4-FFF2-40B4-BE49-F238E27FC236}">
                <a16:creationId xmlns:a16="http://schemas.microsoft.com/office/drawing/2014/main" id="{2A3E1B85-19D0-B1D7-D19B-D26ACB121165}"/>
              </a:ext>
            </a:extLst>
          </p:cNvPr>
          <p:cNvSpPr>
            <a:spLocks noGrp="1"/>
          </p:cNvSpPr>
          <p:nvPr>
            <p:ph type="title"/>
          </p:nvPr>
        </p:nvSpPr>
        <p:spPr/>
        <p:txBody>
          <a:bodyPr>
            <a:normAutofit/>
          </a:bodyPr>
          <a:lstStyle/>
          <a:p>
            <a:r>
              <a:rPr lang="en-US" sz="2600" b="1">
                <a:solidFill>
                  <a:srgbClr val="F7FFEF"/>
                </a:solidFill>
                <a:latin typeface="Calibri" panose="020F0502020204030204" pitchFamily="34" charset="0"/>
              </a:rPr>
              <a:t>5. Database Integration: SQL + NoSQL</a:t>
            </a:r>
            <a:endParaRPr lang="ru-RU" sz="2600" b="1">
              <a:solidFill>
                <a:srgbClr val="F7FFEF"/>
              </a:solidFill>
              <a:latin typeface="Calibri" panose="020F0502020204030204" pitchFamily="34" charset="0"/>
            </a:endParaRPr>
          </a:p>
        </p:txBody>
      </p:sp>
      <p:sp>
        <p:nvSpPr>
          <p:cNvPr id="3" name="Content Placeholder 2">
            <a:extLst>
              <a:ext uri="{FF2B5EF4-FFF2-40B4-BE49-F238E27FC236}">
                <a16:creationId xmlns:a16="http://schemas.microsoft.com/office/drawing/2014/main" id="{3DD59CEE-4F89-C6CC-FE79-EBF6730E8C72}"/>
              </a:ext>
            </a:extLst>
          </p:cNvPr>
          <p:cNvSpPr>
            <a:spLocks noGrp="1"/>
          </p:cNvSpPr>
          <p:nvPr>
            <p:ph idx="1"/>
          </p:nvPr>
        </p:nvSpPr>
        <p:spPr/>
        <p:txBody>
          <a:bodyPr/>
          <a:lstStyle/>
          <a:p>
            <a:pPr>
              <a:spcAft>
                <a:spcPts val="600"/>
              </a:spcAft>
            </a:pPr>
            <a:r>
              <a:rPr lang="en-US" sz="2000">
                <a:solidFill>
                  <a:srgbClr val="F8FFF1"/>
                </a:solidFill>
                <a:latin typeface="Calibri" panose="020F0502020204030204" pitchFamily="34" charset="0"/>
              </a:rPr>
              <a:t>Relational database: SQLite using sql.js for users, incidents, threat signatures, incident relations, and audit logs.</a:t>
            </a:r>
          </a:p>
          <a:p>
            <a:pPr>
              <a:spcAft>
                <a:spcPts val="600"/>
              </a:spcAft>
            </a:pPr>
            <a:r>
              <a:rPr lang="en-US" sz="2000">
                <a:solidFill>
                  <a:srgbClr val="F8FFF1"/>
                </a:solidFill>
                <a:latin typeface="Calibri" panose="020F0502020204030204" pitchFamily="34" charset="0"/>
              </a:rPr>
              <a:t>Non-relational database: NeDB for threat intelligence, system events, scan results, and persistent job queues.</a:t>
            </a:r>
          </a:p>
          <a:p>
            <a:pPr>
              <a:spcAft>
                <a:spcPts val="600"/>
              </a:spcAft>
            </a:pPr>
            <a:r>
              <a:rPr lang="en-US" sz="2000">
                <a:solidFill>
                  <a:srgbClr val="F8FFF1"/>
                </a:solidFill>
                <a:latin typeface="Calibri" panose="020F0502020204030204" pitchFamily="34" charset="0"/>
              </a:rPr>
              <a:t>Indexes were added for efficient filtering and lookup.</a:t>
            </a:r>
          </a:p>
          <a:p>
            <a:pPr>
              <a:spcAft>
                <a:spcPts val="600"/>
              </a:spcAft>
            </a:pPr>
            <a:r>
              <a:rPr lang="en-US" sz="2000">
                <a:solidFill>
                  <a:srgbClr val="F8FFF1"/>
                </a:solidFill>
                <a:latin typeface="Calibri" panose="020F0502020204030204" pitchFamily="34" charset="0"/>
              </a:rPr>
              <a:t>Using both SQL and NoSQL increases the academic value of the solution.</a:t>
            </a:r>
            <a:endParaRPr lang="ru-RU" sz="2000">
              <a:solidFill>
                <a:srgbClr val="F8FFF1"/>
              </a:solidFill>
              <a:latin typeface="Calibri" panose="020F0502020204030204" pitchFamily="34" charset="0"/>
            </a:endParaRPr>
          </a:p>
        </p:txBody>
      </p:sp>
      <p:sp>
        <p:nvSpPr>
          <p:cNvPr id="5" name="Rectangle 4">
            <a:extLst>
              <a:ext uri="{FF2B5EF4-FFF2-40B4-BE49-F238E27FC236}">
                <a16:creationId xmlns:a16="http://schemas.microsoft.com/office/drawing/2014/main" id="{9393DD3D-8AC7-7DF5-6E3A-E42FC9D85792}"/>
              </a:ext>
            </a:extLst>
          </p:cNvPr>
          <p:cNvSpPr/>
          <p:nvPr/>
        </p:nvSpPr>
        <p:spPr>
          <a:xfrm>
            <a:off x="0" y="0"/>
            <a:ext cx="12192000" cy="355600"/>
          </a:xfrm>
          <a:prstGeom prst="rect">
            <a:avLst/>
          </a:prstGeom>
          <a:solidFill>
            <a:srgbClr val="71BF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B43876CF-D6B2-C9CB-7C92-7711B712A538}"/>
              </a:ext>
            </a:extLst>
          </p:cNvPr>
          <p:cNvSpPr txBox="1"/>
          <p:nvPr/>
        </p:nvSpPr>
        <p:spPr>
          <a:xfrm>
            <a:off x="304800" y="6413500"/>
            <a:ext cx="11582400" cy="246221"/>
          </a:xfrm>
          <a:prstGeom prst="rect">
            <a:avLst/>
          </a:prstGeom>
          <a:noFill/>
        </p:spPr>
        <p:txBody>
          <a:bodyPr vert="horz" rtlCol="0">
            <a:spAutoFit/>
          </a:bodyPr>
          <a:lstStyle/>
          <a:p>
            <a:r>
              <a:rPr lang="en-US" sz="1000">
                <a:solidFill>
                  <a:srgbClr val="E8F7D9"/>
                </a:solidFill>
                <a:latin typeface="Calibri" panose="020F0502020204030204" pitchFamily="34" charset="0"/>
              </a:rPr>
              <a:t>CyberGuard Phase III - Assignment 4</a:t>
            </a:r>
            <a:endParaRPr lang="ru-RU" sz="1000">
              <a:solidFill>
                <a:srgbClr val="E8F7D9"/>
              </a:solidFill>
              <a:latin typeface="Calibri" panose="020F0502020204030204" pitchFamily="34" charset="0"/>
            </a:endParaRPr>
          </a:p>
        </p:txBody>
      </p:sp>
    </p:spTree>
    <p:extLst>
      <p:ext uri="{BB962C8B-B14F-4D97-AF65-F5344CB8AC3E}">
        <p14:creationId xmlns:p14="http://schemas.microsoft.com/office/powerpoint/2010/main" val="3058637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AFB611-AE02-3090-BAC9-839F55A4B9F9}"/>
              </a:ext>
            </a:extLst>
          </p:cNvPr>
          <p:cNvSpPr/>
          <p:nvPr/>
        </p:nvSpPr>
        <p:spPr>
          <a:xfrm>
            <a:off x="0" y="0"/>
            <a:ext cx="12192000" cy="6858000"/>
          </a:xfrm>
          <a:prstGeom prst="rect">
            <a:avLst/>
          </a:prstGeom>
          <a:solidFill>
            <a:srgbClr val="141A0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a:extLst>
              <a:ext uri="{FF2B5EF4-FFF2-40B4-BE49-F238E27FC236}">
                <a16:creationId xmlns:a16="http://schemas.microsoft.com/office/drawing/2014/main" id="{7F641E73-C2F4-D99D-6B7D-2321824CDE33}"/>
              </a:ext>
            </a:extLst>
          </p:cNvPr>
          <p:cNvSpPr>
            <a:spLocks noGrp="1"/>
          </p:cNvSpPr>
          <p:nvPr>
            <p:ph type="title"/>
          </p:nvPr>
        </p:nvSpPr>
        <p:spPr/>
        <p:txBody>
          <a:bodyPr>
            <a:normAutofit/>
          </a:bodyPr>
          <a:lstStyle/>
          <a:p>
            <a:r>
              <a:rPr lang="en-US" sz="2600" b="1">
                <a:solidFill>
                  <a:srgbClr val="F7FFEF"/>
                </a:solidFill>
                <a:latin typeface="Calibri" panose="020F0502020204030204" pitchFamily="34" charset="0"/>
              </a:rPr>
              <a:t>6. RESTful API-Based Data Communication</a:t>
            </a:r>
            <a:endParaRPr lang="ru-RU" sz="2600" b="1">
              <a:solidFill>
                <a:srgbClr val="F7FFEF"/>
              </a:solidFill>
              <a:latin typeface="Calibri" panose="020F0502020204030204" pitchFamily="34" charset="0"/>
            </a:endParaRPr>
          </a:p>
        </p:txBody>
      </p:sp>
      <p:sp>
        <p:nvSpPr>
          <p:cNvPr id="3" name="Content Placeholder 2">
            <a:extLst>
              <a:ext uri="{FF2B5EF4-FFF2-40B4-BE49-F238E27FC236}">
                <a16:creationId xmlns:a16="http://schemas.microsoft.com/office/drawing/2014/main" id="{A5B84E56-90F3-979B-C8FA-F4CFC3534118}"/>
              </a:ext>
            </a:extLst>
          </p:cNvPr>
          <p:cNvSpPr>
            <a:spLocks noGrp="1"/>
          </p:cNvSpPr>
          <p:nvPr>
            <p:ph idx="1"/>
          </p:nvPr>
        </p:nvSpPr>
        <p:spPr/>
        <p:txBody>
          <a:bodyPr/>
          <a:lstStyle/>
          <a:p>
            <a:pPr>
              <a:spcAft>
                <a:spcPts val="600"/>
              </a:spcAft>
            </a:pPr>
            <a:r>
              <a:rPr lang="en-US" sz="2000">
                <a:solidFill>
                  <a:srgbClr val="F8FFF1"/>
                </a:solidFill>
                <a:latin typeface="Calibri" panose="020F0502020204030204" pitchFamily="34" charset="0"/>
              </a:rPr>
              <a:t>Authentication endpoints: register and login with JWT token generation.</a:t>
            </a:r>
          </a:p>
          <a:p>
            <a:pPr>
              <a:spcAft>
                <a:spcPts val="600"/>
              </a:spcAft>
            </a:pPr>
            <a:r>
              <a:rPr lang="en-US" sz="2000">
                <a:solidFill>
                  <a:srgbClr val="F8FFF1"/>
                </a:solidFill>
                <a:latin typeface="Calibri" panose="020F0502020204030204" pitchFamily="34" charset="0"/>
              </a:rPr>
              <a:t>Incident endpoints: full CRUD, statistics, XML export, external format export, and STIX-like export.</a:t>
            </a:r>
          </a:p>
          <a:p>
            <a:pPr>
              <a:spcAft>
                <a:spcPts val="600"/>
              </a:spcAft>
            </a:pPr>
            <a:r>
              <a:rPr lang="en-US" sz="2000">
                <a:solidFill>
                  <a:srgbClr val="F8FFF1"/>
                </a:solidFill>
                <a:latin typeface="Calibri" panose="020F0502020204030204" pitchFamily="34" charset="0"/>
              </a:rPr>
              <a:t>Threat intelligence endpoints: full CRUD, search, and XML export.</a:t>
            </a:r>
          </a:p>
          <a:p>
            <a:pPr>
              <a:spcAft>
                <a:spcPts val="600"/>
              </a:spcAft>
            </a:pPr>
            <a:r>
              <a:rPr lang="en-US" sz="2000">
                <a:solidFill>
                  <a:srgbClr val="F8FFF1"/>
                </a:solidFill>
                <a:latin typeface="Calibri" panose="020F0502020204030204" pitchFamily="34" charset="0"/>
              </a:rPr>
              <a:t>System endpoints: health, metrics, cache stats, async stats, audit log, and XML-to-JSON conversion.</a:t>
            </a:r>
            <a:endParaRPr lang="ru-RU" sz="2000">
              <a:solidFill>
                <a:srgbClr val="F8FFF1"/>
              </a:solidFill>
              <a:latin typeface="Calibri" panose="020F0502020204030204" pitchFamily="34" charset="0"/>
            </a:endParaRPr>
          </a:p>
        </p:txBody>
      </p:sp>
      <p:sp>
        <p:nvSpPr>
          <p:cNvPr id="5" name="Rectangle 4">
            <a:extLst>
              <a:ext uri="{FF2B5EF4-FFF2-40B4-BE49-F238E27FC236}">
                <a16:creationId xmlns:a16="http://schemas.microsoft.com/office/drawing/2014/main" id="{483516A1-A994-7FCD-7280-6D48E8F1686A}"/>
              </a:ext>
            </a:extLst>
          </p:cNvPr>
          <p:cNvSpPr/>
          <p:nvPr/>
        </p:nvSpPr>
        <p:spPr>
          <a:xfrm>
            <a:off x="0" y="0"/>
            <a:ext cx="12192000" cy="355600"/>
          </a:xfrm>
          <a:prstGeom prst="rect">
            <a:avLst/>
          </a:prstGeom>
          <a:solidFill>
            <a:srgbClr val="71BF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84F7EED0-72D7-A398-B3C0-4A7E12F21015}"/>
              </a:ext>
            </a:extLst>
          </p:cNvPr>
          <p:cNvSpPr txBox="1"/>
          <p:nvPr/>
        </p:nvSpPr>
        <p:spPr>
          <a:xfrm>
            <a:off x="304800" y="6413500"/>
            <a:ext cx="11582400" cy="246221"/>
          </a:xfrm>
          <a:prstGeom prst="rect">
            <a:avLst/>
          </a:prstGeom>
          <a:noFill/>
        </p:spPr>
        <p:txBody>
          <a:bodyPr vert="horz" rtlCol="0">
            <a:spAutoFit/>
          </a:bodyPr>
          <a:lstStyle/>
          <a:p>
            <a:r>
              <a:rPr lang="en-US" sz="1000">
                <a:solidFill>
                  <a:srgbClr val="E8F7D9"/>
                </a:solidFill>
                <a:latin typeface="Calibri" panose="020F0502020204030204" pitchFamily="34" charset="0"/>
              </a:rPr>
              <a:t>CyberGuard Phase III - Assignment 4</a:t>
            </a:r>
            <a:endParaRPr lang="ru-RU" sz="1000">
              <a:solidFill>
                <a:srgbClr val="E8F7D9"/>
              </a:solidFill>
              <a:latin typeface="Calibri" panose="020F0502020204030204" pitchFamily="34" charset="0"/>
            </a:endParaRPr>
          </a:p>
        </p:txBody>
      </p:sp>
    </p:spTree>
    <p:extLst>
      <p:ext uri="{BB962C8B-B14F-4D97-AF65-F5344CB8AC3E}">
        <p14:creationId xmlns:p14="http://schemas.microsoft.com/office/powerpoint/2010/main" val="2243940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9E94EEF-C048-5352-BD24-3709D03AC0C2}"/>
              </a:ext>
            </a:extLst>
          </p:cNvPr>
          <p:cNvSpPr/>
          <p:nvPr/>
        </p:nvSpPr>
        <p:spPr>
          <a:xfrm>
            <a:off x="0" y="0"/>
            <a:ext cx="12192000" cy="6858000"/>
          </a:xfrm>
          <a:prstGeom prst="rect">
            <a:avLst/>
          </a:prstGeom>
          <a:solidFill>
            <a:srgbClr val="141A0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a:extLst>
              <a:ext uri="{FF2B5EF4-FFF2-40B4-BE49-F238E27FC236}">
                <a16:creationId xmlns:a16="http://schemas.microsoft.com/office/drawing/2014/main" id="{A0A11076-98ED-7647-FF68-54D3920FFDBF}"/>
              </a:ext>
            </a:extLst>
          </p:cNvPr>
          <p:cNvSpPr>
            <a:spLocks noGrp="1"/>
          </p:cNvSpPr>
          <p:nvPr>
            <p:ph type="title"/>
          </p:nvPr>
        </p:nvSpPr>
        <p:spPr/>
        <p:txBody>
          <a:bodyPr>
            <a:normAutofit/>
          </a:bodyPr>
          <a:lstStyle/>
          <a:p>
            <a:r>
              <a:rPr lang="en-US" sz="2600" b="1">
                <a:solidFill>
                  <a:srgbClr val="F7FFEF"/>
                </a:solidFill>
                <a:latin typeface="Calibri" panose="020F0502020204030204" pitchFamily="34" charset="0"/>
              </a:rPr>
              <a:t>7. Asynchronous Data Processing</a:t>
            </a:r>
            <a:endParaRPr lang="ru-RU" sz="2600" b="1">
              <a:solidFill>
                <a:srgbClr val="F7FFEF"/>
              </a:solidFill>
              <a:latin typeface="Calibri" panose="020F0502020204030204" pitchFamily="34" charset="0"/>
            </a:endParaRPr>
          </a:p>
        </p:txBody>
      </p:sp>
      <p:sp>
        <p:nvSpPr>
          <p:cNvPr id="3" name="Content Placeholder 2">
            <a:extLst>
              <a:ext uri="{FF2B5EF4-FFF2-40B4-BE49-F238E27FC236}">
                <a16:creationId xmlns:a16="http://schemas.microsoft.com/office/drawing/2014/main" id="{B9B2BDF1-F424-80B9-18FF-035909D4C19C}"/>
              </a:ext>
            </a:extLst>
          </p:cNvPr>
          <p:cNvSpPr>
            <a:spLocks noGrp="1"/>
          </p:cNvSpPr>
          <p:nvPr>
            <p:ph idx="1"/>
          </p:nvPr>
        </p:nvSpPr>
        <p:spPr/>
        <p:txBody>
          <a:bodyPr/>
          <a:lstStyle/>
          <a:p>
            <a:pPr>
              <a:spcAft>
                <a:spcPts val="600"/>
              </a:spcAft>
            </a:pPr>
            <a:r>
              <a:rPr lang="en-US" sz="2000">
                <a:solidFill>
                  <a:srgbClr val="F8FFF1"/>
                </a:solidFill>
                <a:latin typeface="Calibri" panose="020F0502020204030204" pitchFamily="34" charset="0"/>
              </a:rPr>
              <a:t>AsyncProcessor implements producer-consumer behavior using an event-driven model.</a:t>
            </a:r>
          </a:p>
          <a:p>
            <a:pPr>
              <a:spcAft>
                <a:spcPts val="600"/>
              </a:spcAft>
            </a:pPr>
            <a:r>
              <a:rPr lang="en-US" sz="2000">
                <a:solidFill>
                  <a:srgbClr val="F8FFF1"/>
                </a:solidFill>
                <a:latin typeface="Calibri" panose="020F0502020204030204" pitchFamily="34" charset="0"/>
              </a:rPr>
              <a:t>Jobs are persisted in the NeDB jobQueue collection so they survive downtime.</a:t>
            </a:r>
          </a:p>
          <a:p>
            <a:pPr>
              <a:spcAft>
                <a:spcPts val="600"/>
              </a:spcAft>
            </a:pPr>
            <a:r>
              <a:rPr lang="en-US" sz="2000">
                <a:solidFill>
                  <a:srgbClr val="F8FFF1"/>
                </a:solidFill>
                <a:latin typeface="Calibri" panose="020F0502020204030204" pitchFamily="34" charset="0"/>
              </a:rPr>
              <a:t>Built-in handlers process threat analysis, scan processing, reporting, notification, and data cleanup.</a:t>
            </a:r>
          </a:p>
          <a:p>
            <a:pPr>
              <a:spcAft>
                <a:spcPts val="600"/>
              </a:spcAft>
            </a:pPr>
            <a:r>
              <a:rPr lang="en-US" sz="2000">
                <a:solidFill>
                  <a:srgbClr val="F8FFF1"/>
                </a:solidFill>
                <a:latin typeface="Calibri" panose="020F0502020204030204" pitchFamily="34" charset="0"/>
              </a:rPr>
              <a:t>Offline simulation endpoint demonstrates that queued messages can be processed later.</a:t>
            </a:r>
            <a:endParaRPr lang="ru-RU" sz="2000">
              <a:solidFill>
                <a:srgbClr val="F8FFF1"/>
              </a:solidFill>
              <a:latin typeface="Calibri" panose="020F0502020204030204" pitchFamily="34" charset="0"/>
            </a:endParaRPr>
          </a:p>
        </p:txBody>
      </p:sp>
      <p:sp>
        <p:nvSpPr>
          <p:cNvPr id="5" name="Rectangle 4">
            <a:extLst>
              <a:ext uri="{FF2B5EF4-FFF2-40B4-BE49-F238E27FC236}">
                <a16:creationId xmlns:a16="http://schemas.microsoft.com/office/drawing/2014/main" id="{9D83ECD7-00A1-961B-187C-D0C2E7332FB1}"/>
              </a:ext>
            </a:extLst>
          </p:cNvPr>
          <p:cNvSpPr/>
          <p:nvPr/>
        </p:nvSpPr>
        <p:spPr>
          <a:xfrm>
            <a:off x="0" y="0"/>
            <a:ext cx="12192000" cy="355600"/>
          </a:xfrm>
          <a:prstGeom prst="rect">
            <a:avLst/>
          </a:prstGeom>
          <a:solidFill>
            <a:srgbClr val="71BF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57E26A5B-5698-74C3-2080-219E34ABE764}"/>
              </a:ext>
            </a:extLst>
          </p:cNvPr>
          <p:cNvSpPr txBox="1"/>
          <p:nvPr/>
        </p:nvSpPr>
        <p:spPr>
          <a:xfrm>
            <a:off x="304800" y="6413500"/>
            <a:ext cx="11582400" cy="246221"/>
          </a:xfrm>
          <a:prstGeom prst="rect">
            <a:avLst/>
          </a:prstGeom>
          <a:noFill/>
        </p:spPr>
        <p:txBody>
          <a:bodyPr vert="horz" rtlCol="0">
            <a:spAutoFit/>
          </a:bodyPr>
          <a:lstStyle/>
          <a:p>
            <a:r>
              <a:rPr lang="en-US" sz="1000">
                <a:solidFill>
                  <a:srgbClr val="E8F7D9"/>
                </a:solidFill>
                <a:latin typeface="Calibri" panose="020F0502020204030204" pitchFamily="34" charset="0"/>
              </a:rPr>
              <a:t>CyberGuard Phase III - Assignment 4</a:t>
            </a:r>
            <a:endParaRPr lang="ru-RU" sz="1000">
              <a:solidFill>
                <a:srgbClr val="E8F7D9"/>
              </a:solidFill>
              <a:latin typeface="Calibri" panose="020F0502020204030204" pitchFamily="34" charset="0"/>
            </a:endParaRPr>
          </a:p>
        </p:txBody>
      </p:sp>
    </p:spTree>
    <p:extLst>
      <p:ext uri="{BB962C8B-B14F-4D97-AF65-F5344CB8AC3E}">
        <p14:creationId xmlns:p14="http://schemas.microsoft.com/office/powerpoint/2010/main" val="2244900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DFA334-AE03-1728-6441-F0415DA1CD38}"/>
              </a:ext>
            </a:extLst>
          </p:cNvPr>
          <p:cNvSpPr/>
          <p:nvPr/>
        </p:nvSpPr>
        <p:spPr>
          <a:xfrm>
            <a:off x="0" y="0"/>
            <a:ext cx="12192000" cy="6858000"/>
          </a:xfrm>
          <a:prstGeom prst="rect">
            <a:avLst/>
          </a:prstGeom>
          <a:solidFill>
            <a:srgbClr val="141A0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a:extLst>
              <a:ext uri="{FF2B5EF4-FFF2-40B4-BE49-F238E27FC236}">
                <a16:creationId xmlns:a16="http://schemas.microsoft.com/office/drawing/2014/main" id="{B29DCE13-55F9-747F-0EEA-32F1BE298938}"/>
              </a:ext>
            </a:extLst>
          </p:cNvPr>
          <p:cNvSpPr>
            <a:spLocks noGrp="1"/>
          </p:cNvSpPr>
          <p:nvPr>
            <p:ph type="title"/>
          </p:nvPr>
        </p:nvSpPr>
        <p:spPr/>
        <p:txBody>
          <a:bodyPr>
            <a:normAutofit/>
          </a:bodyPr>
          <a:lstStyle/>
          <a:p>
            <a:r>
              <a:rPr lang="en-US" sz="2600" b="1">
                <a:solidFill>
                  <a:srgbClr val="F7FFEF"/>
                </a:solidFill>
                <a:latin typeface="Calibri" panose="020F0502020204030204" pitchFamily="34" charset="0"/>
              </a:rPr>
              <a:t>8. Caching Strategy and Performance</a:t>
            </a:r>
            <a:endParaRPr lang="ru-RU" sz="2600" b="1">
              <a:solidFill>
                <a:srgbClr val="F7FFEF"/>
              </a:solidFill>
              <a:latin typeface="Calibri" panose="020F0502020204030204" pitchFamily="34" charset="0"/>
            </a:endParaRPr>
          </a:p>
        </p:txBody>
      </p:sp>
      <p:sp>
        <p:nvSpPr>
          <p:cNvPr id="3" name="Content Placeholder 2">
            <a:extLst>
              <a:ext uri="{FF2B5EF4-FFF2-40B4-BE49-F238E27FC236}">
                <a16:creationId xmlns:a16="http://schemas.microsoft.com/office/drawing/2014/main" id="{15BCE64D-5BC5-1693-EE2F-775D309E6A00}"/>
              </a:ext>
            </a:extLst>
          </p:cNvPr>
          <p:cNvSpPr>
            <a:spLocks noGrp="1"/>
          </p:cNvSpPr>
          <p:nvPr>
            <p:ph idx="1"/>
          </p:nvPr>
        </p:nvSpPr>
        <p:spPr/>
        <p:txBody>
          <a:bodyPr/>
          <a:lstStyle/>
          <a:p>
            <a:pPr>
              <a:spcAft>
                <a:spcPts val="600"/>
              </a:spcAft>
            </a:pPr>
            <a:r>
              <a:rPr lang="en-US" sz="2000">
                <a:solidFill>
                  <a:srgbClr val="F8FFF1"/>
                </a:solidFill>
                <a:latin typeface="Calibri" panose="020F0502020204030204" pitchFamily="34" charset="0"/>
              </a:rPr>
              <a:t>In-memory cache stores frequently accessed incident and threat-intel responses.</a:t>
            </a:r>
          </a:p>
          <a:p>
            <a:pPr>
              <a:spcAft>
                <a:spcPts val="600"/>
              </a:spcAft>
            </a:pPr>
            <a:r>
              <a:rPr lang="en-US" sz="2000">
                <a:solidFill>
                  <a:srgbClr val="F8FFF1"/>
                </a:solidFill>
                <a:latin typeface="Calibri" panose="020F0502020204030204" pitchFamily="34" charset="0"/>
              </a:rPr>
              <a:t>Absolute TTL and sliding expiration policies are used depending on the data type.</a:t>
            </a:r>
          </a:p>
          <a:p>
            <a:pPr>
              <a:spcAft>
                <a:spcPts val="600"/>
              </a:spcAft>
            </a:pPr>
            <a:r>
              <a:rPr lang="en-US" sz="2000">
                <a:solidFill>
                  <a:srgbClr val="F8FFF1"/>
                </a:solidFill>
                <a:latin typeface="Calibri" panose="020F0502020204030204" pitchFamily="34" charset="0"/>
              </a:rPr>
              <a:t>Tag-based invalidation clears related cached records after create, update, or delete operations.</a:t>
            </a:r>
          </a:p>
          <a:p>
            <a:pPr>
              <a:spcAft>
                <a:spcPts val="600"/>
              </a:spcAft>
            </a:pPr>
            <a:r>
              <a:rPr lang="en-US" sz="2000">
                <a:solidFill>
                  <a:srgbClr val="F8FFF1"/>
                </a:solidFill>
                <a:latin typeface="Calibri" panose="020F0502020204030204" pitchFamily="34" charset="0"/>
              </a:rPr>
              <a:t>A benchmark endpoint compares uncached and cached access times to show performance improvement.</a:t>
            </a:r>
            <a:endParaRPr lang="ru-RU" sz="2000">
              <a:solidFill>
                <a:srgbClr val="F8FFF1"/>
              </a:solidFill>
              <a:latin typeface="Calibri" panose="020F0502020204030204" pitchFamily="34" charset="0"/>
            </a:endParaRPr>
          </a:p>
        </p:txBody>
      </p:sp>
      <p:sp>
        <p:nvSpPr>
          <p:cNvPr id="5" name="Rectangle 4">
            <a:extLst>
              <a:ext uri="{FF2B5EF4-FFF2-40B4-BE49-F238E27FC236}">
                <a16:creationId xmlns:a16="http://schemas.microsoft.com/office/drawing/2014/main" id="{35906DEC-3D6F-774D-97F8-395581A6B5FA}"/>
              </a:ext>
            </a:extLst>
          </p:cNvPr>
          <p:cNvSpPr/>
          <p:nvPr/>
        </p:nvSpPr>
        <p:spPr>
          <a:xfrm>
            <a:off x="0" y="0"/>
            <a:ext cx="12192000" cy="355600"/>
          </a:xfrm>
          <a:prstGeom prst="rect">
            <a:avLst/>
          </a:prstGeom>
          <a:solidFill>
            <a:srgbClr val="71BF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41DE0065-9838-3C6F-323B-FFC1344CF699}"/>
              </a:ext>
            </a:extLst>
          </p:cNvPr>
          <p:cNvSpPr txBox="1"/>
          <p:nvPr/>
        </p:nvSpPr>
        <p:spPr>
          <a:xfrm>
            <a:off x="304800" y="6413500"/>
            <a:ext cx="11582400" cy="246221"/>
          </a:xfrm>
          <a:prstGeom prst="rect">
            <a:avLst/>
          </a:prstGeom>
          <a:noFill/>
        </p:spPr>
        <p:txBody>
          <a:bodyPr vert="horz" rtlCol="0">
            <a:spAutoFit/>
          </a:bodyPr>
          <a:lstStyle/>
          <a:p>
            <a:r>
              <a:rPr lang="en-US" sz="1000">
                <a:solidFill>
                  <a:srgbClr val="E8F7D9"/>
                </a:solidFill>
                <a:latin typeface="Calibri" panose="020F0502020204030204" pitchFamily="34" charset="0"/>
              </a:rPr>
              <a:t>CyberGuard Phase III - Assignment 4</a:t>
            </a:r>
            <a:endParaRPr lang="ru-RU" sz="1000">
              <a:solidFill>
                <a:srgbClr val="E8F7D9"/>
              </a:solidFill>
              <a:latin typeface="Calibri" panose="020F0502020204030204" pitchFamily="34" charset="0"/>
            </a:endParaRPr>
          </a:p>
        </p:txBody>
      </p:sp>
    </p:spTree>
    <p:extLst>
      <p:ext uri="{BB962C8B-B14F-4D97-AF65-F5344CB8AC3E}">
        <p14:creationId xmlns:p14="http://schemas.microsoft.com/office/powerpoint/2010/main" val="995355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7CF6F7-CC14-190C-C7C1-F15C29722A12}"/>
              </a:ext>
            </a:extLst>
          </p:cNvPr>
          <p:cNvSpPr/>
          <p:nvPr/>
        </p:nvSpPr>
        <p:spPr>
          <a:xfrm>
            <a:off x="0" y="0"/>
            <a:ext cx="12192000" cy="6858000"/>
          </a:xfrm>
          <a:prstGeom prst="rect">
            <a:avLst/>
          </a:prstGeom>
          <a:solidFill>
            <a:srgbClr val="141A0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a:extLst>
              <a:ext uri="{FF2B5EF4-FFF2-40B4-BE49-F238E27FC236}">
                <a16:creationId xmlns:a16="http://schemas.microsoft.com/office/drawing/2014/main" id="{28455958-6798-C9E4-4C3D-DECD17D095CF}"/>
              </a:ext>
            </a:extLst>
          </p:cNvPr>
          <p:cNvSpPr>
            <a:spLocks noGrp="1"/>
          </p:cNvSpPr>
          <p:nvPr>
            <p:ph type="title"/>
          </p:nvPr>
        </p:nvSpPr>
        <p:spPr/>
        <p:txBody>
          <a:bodyPr>
            <a:normAutofit/>
          </a:bodyPr>
          <a:lstStyle/>
          <a:p>
            <a:r>
              <a:rPr lang="en-US" sz="2600" b="1">
                <a:solidFill>
                  <a:srgbClr val="F7FFEF"/>
                </a:solidFill>
                <a:latin typeface="Calibri" panose="020F0502020204030204" pitchFamily="34" charset="0"/>
              </a:rPr>
              <a:t>9. Data Security and Validation</a:t>
            </a:r>
            <a:endParaRPr lang="ru-RU" sz="2600" b="1">
              <a:solidFill>
                <a:srgbClr val="F7FFEF"/>
              </a:solidFill>
              <a:latin typeface="Calibri" panose="020F0502020204030204" pitchFamily="34" charset="0"/>
            </a:endParaRPr>
          </a:p>
        </p:txBody>
      </p:sp>
      <p:sp>
        <p:nvSpPr>
          <p:cNvPr id="3" name="Content Placeholder 2">
            <a:extLst>
              <a:ext uri="{FF2B5EF4-FFF2-40B4-BE49-F238E27FC236}">
                <a16:creationId xmlns:a16="http://schemas.microsoft.com/office/drawing/2014/main" id="{973D5F68-31C7-EEFA-8088-0FE79A86655B}"/>
              </a:ext>
            </a:extLst>
          </p:cNvPr>
          <p:cNvSpPr>
            <a:spLocks noGrp="1"/>
          </p:cNvSpPr>
          <p:nvPr>
            <p:ph idx="1"/>
          </p:nvPr>
        </p:nvSpPr>
        <p:spPr/>
        <p:txBody>
          <a:bodyPr/>
          <a:lstStyle/>
          <a:p>
            <a:pPr>
              <a:spcAft>
                <a:spcPts val="600"/>
              </a:spcAft>
            </a:pPr>
            <a:r>
              <a:rPr lang="en-US" sz="2000">
                <a:solidFill>
                  <a:srgbClr val="F8FFF1"/>
                </a:solidFill>
                <a:latin typeface="Calibri" panose="020F0502020204030204" pitchFamily="34" charset="0"/>
              </a:rPr>
              <a:t>JWT-based authentication secures protected routes.</a:t>
            </a:r>
          </a:p>
          <a:p>
            <a:pPr>
              <a:spcAft>
                <a:spcPts val="600"/>
              </a:spcAft>
            </a:pPr>
            <a:r>
              <a:rPr lang="en-US" sz="2000">
                <a:solidFill>
                  <a:srgbClr val="F8FFF1"/>
                </a:solidFill>
                <a:latin typeface="Calibri" panose="020F0502020204030204" pitchFamily="34" charset="0"/>
              </a:rPr>
              <a:t>bcrypt password hashing protects stored credentials.</a:t>
            </a:r>
          </a:p>
          <a:p>
            <a:pPr>
              <a:spcAft>
                <a:spcPts val="600"/>
              </a:spcAft>
            </a:pPr>
            <a:r>
              <a:rPr lang="en-US" sz="2000">
                <a:solidFill>
                  <a:srgbClr val="F8FFF1"/>
                </a:solidFill>
                <a:latin typeface="Calibri" panose="020F0502020204030204" pitchFamily="34" charset="0"/>
              </a:rPr>
              <a:t>Helmet, rate limiting, input sanitization, and express-validator reduce common vulnerabilities.</a:t>
            </a:r>
          </a:p>
          <a:p>
            <a:pPr>
              <a:spcAft>
                <a:spcPts val="600"/>
              </a:spcAft>
            </a:pPr>
            <a:r>
              <a:rPr lang="en-US" sz="2000">
                <a:solidFill>
                  <a:srgbClr val="F8FFF1"/>
                </a:solidFill>
                <a:latin typeface="Calibri" panose="020F0502020204030204" pitchFamily="34" charset="0"/>
              </a:rPr>
              <a:t>Role-based access control differentiates admin, analyst, and viewer permissions.</a:t>
            </a:r>
            <a:endParaRPr lang="ru-RU" sz="2000">
              <a:solidFill>
                <a:srgbClr val="F8FFF1"/>
              </a:solidFill>
              <a:latin typeface="Calibri" panose="020F0502020204030204" pitchFamily="34" charset="0"/>
            </a:endParaRPr>
          </a:p>
        </p:txBody>
      </p:sp>
      <p:sp>
        <p:nvSpPr>
          <p:cNvPr id="5" name="Rectangle 4">
            <a:extLst>
              <a:ext uri="{FF2B5EF4-FFF2-40B4-BE49-F238E27FC236}">
                <a16:creationId xmlns:a16="http://schemas.microsoft.com/office/drawing/2014/main" id="{7F90A83F-56F6-BBEA-D7A0-5BBCA921F13A}"/>
              </a:ext>
            </a:extLst>
          </p:cNvPr>
          <p:cNvSpPr/>
          <p:nvPr/>
        </p:nvSpPr>
        <p:spPr>
          <a:xfrm>
            <a:off x="0" y="0"/>
            <a:ext cx="12192000" cy="355600"/>
          </a:xfrm>
          <a:prstGeom prst="rect">
            <a:avLst/>
          </a:prstGeom>
          <a:solidFill>
            <a:srgbClr val="71BF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B9FB30CC-D95C-4BA9-CB11-2B68365DD344}"/>
              </a:ext>
            </a:extLst>
          </p:cNvPr>
          <p:cNvSpPr txBox="1"/>
          <p:nvPr/>
        </p:nvSpPr>
        <p:spPr>
          <a:xfrm>
            <a:off x="304800" y="6413500"/>
            <a:ext cx="11582400" cy="246221"/>
          </a:xfrm>
          <a:prstGeom prst="rect">
            <a:avLst/>
          </a:prstGeom>
          <a:noFill/>
        </p:spPr>
        <p:txBody>
          <a:bodyPr vert="horz" rtlCol="0">
            <a:spAutoFit/>
          </a:bodyPr>
          <a:lstStyle/>
          <a:p>
            <a:r>
              <a:rPr lang="en-US" sz="1000">
                <a:solidFill>
                  <a:srgbClr val="E8F7D9"/>
                </a:solidFill>
                <a:latin typeface="Calibri" panose="020F0502020204030204" pitchFamily="34" charset="0"/>
              </a:rPr>
              <a:t>CyberGuard Phase III - Assignment 4</a:t>
            </a:r>
            <a:endParaRPr lang="ru-RU" sz="1000">
              <a:solidFill>
                <a:srgbClr val="E8F7D9"/>
              </a:solidFill>
              <a:latin typeface="Calibri" panose="020F0502020204030204" pitchFamily="34" charset="0"/>
            </a:endParaRPr>
          </a:p>
        </p:txBody>
      </p:sp>
    </p:spTree>
    <p:extLst>
      <p:ext uri="{BB962C8B-B14F-4D97-AF65-F5344CB8AC3E}">
        <p14:creationId xmlns:p14="http://schemas.microsoft.com/office/powerpoint/2010/main" val="2567086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1270F23-8B12-3366-0054-B857D9356816}"/>
              </a:ext>
            </a:extLst>
          </p:cNvPr>
          <p:cNvSpPr/>
          <p:nvPr/>
        </p:nvSpPr>
        <p:spPr>
          <a:xfrm>
            <a:off x="0" y="0"/>
            <a:ext cx="12192000" cy="6858000"/>
          </a:xfrm>
          <a:prstGeom prst="rect">
            <a:avLst/>
          </a:prstGeom>
          <a:solidFill>
            <a:srgbClr val="141A0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a:extLst>
              <a:ext uri="{FF2B5EF4-FFF2-40B4-BE49-F238E27FC236}">
                <a16:creationId xmlns:a16="http://schemas.microsoft.com/office/drawing/2014/main" id="{701EF2FC-8C61-4AEE-60FE-E343568C253A}"/>
              </a:ext>
            </a:extLst>
          </p:cNvPr>
          <p:cNvSpPr>
            <a:spLocks noGrp="1"/>
          </p:cNvSpPr>
          <p:nvPr>
            <p:ph type="title"/>
          </p:nvPr>
        </p:nvSpPr>
        <p:spPr/>
        <p:txBody>
          <a:bodyPr>
            <a:normAutofit/>
          </a:bodyPr>
          <a:lstStyle/>
          <a:p>
            <a:r>
              <a:rPr lang="en-US" sz="2600" b="1">
                <a:solidFill>
                  <a:srgbClr val="F7FFEF"/>
                </a:solidFill>
                <a:latin typeface="Calibri" panose="020F0502020204030204" pitchFamily="34" charset="0"/>
              </a:rPr>
              <a:t>10. Data Transformation and Interoperability</a:t>
            </a:r>
            <a:endParaRPr lang="ru-RU" sz="2600" b="1">
              <a:solidFill>
                <a:srgbClr val="F7FFEF"/>
              </a:solidFill>
              <a:latin typeface="Calibri" panose="020F0502020204030204" pitchFamily="34" charset="0"/>
            </a:endParaRPr>
          </a:p>
        </p:txBody>
      </p:sp>
      <p:sp>
        <p:nvSpPr>
          <p:cNvPr id="3" name="Content Placeholder 2">
            <a:extLst>
              <a:ext uri="{FF2B5EF4-FFF2-40B4-BE49-F238E27FC236}">
                <a16:creationId xmlns:a16="http://schemas.microsoft.com/office/drawing/2014/main" id="{BBDB9252-5B96-8ECE-5268-B50648067FBA}"/>
              </a:ext>
            </a:extLst>
          </p:cNvPr>
          <p:cNvSpPr>
            <a:spLocks noGrp="1"/>
          </p:cNvSpPr>
          <p:nvPr>
            <p:ph idx="1"/>
          </p:nvPr>
        </p:nvSpPr>
        <p:spPr/>
        <p:txBody>
          <a:bodyPr/>
          <a:lstStyle/>
          <a:p>
            <a:pPr>
              <a:spcAft>
                <a:spcPts val="600"/>
              </a:spcAft>
            </a:pPr>
            <a:r>
              <a:rPr lang="en-US" sz="2000">
                <a:solidFill>
                  <a:srgbClr val="F8FFF1"/>
                </a:solidFill>
                <a:latin typeface="Calibri" panose="020F0502020204030204" pitchFamily="34" charset="0"/>
              </a:rPr>
              <a:t>Incident data can be restructured into an external JSON format for partner systems.</a:t>
            </a:r>
          </a:p>
          <a:p>
            <a:pPr>
              <a:spcAft>
                <a:spcPts val="600"/>
              </a:spcAft>
            </a:pPr>
            <a:r>
              <a:rPr lang="en-US" sz="2000">
                <a:solidFill>
                  <a:srgbClr val="F8FFF1"/>
                </a:solidFill>
                <a:latin typeface="Calibri" panose="020F0502020204030204" pitchFamily="34" charset="0"/>
              </a:rPr>
              <a:t>JSON-to-XML and XML-to-JSON conversions support heterogeneous system communication.</a:t>
            </a:r>
          </a:p>
          <a:p>
            <a:pPr>
              <a:spcAft>
                <a:spcPts val="600"/>
              </a:spcAft>
            </a:pPr>
            <a:r>
              <a:rPr lang="en-US" sz="2000">
                <a:solidFill>
                  <a:srgbClr val="F8FFF1"/>
                </a:solidFill>
                <a:latin typeface="Calibri" panose="020F0502020204030204" pitchFamily="34" charset="0"/>
              </a:rPr>
              <a:t>Incidents can be exported in a STIX-like threat intelligence format.</a:t>
            </a:r>
          </a:p>
          <a:p>
            <a:pPr>
              <a:spcAft>
                <a:spcPts val="600"/>
              </a:spcAft>
            </a:pPr>
            <a:r>
              <a:rPr lang="en-US" sz="2000">
                <a:solidFill>
                  <a:srgbClr val="F8FFF1"/>
                </a:solidFill>
                <a:latin typeface="Calibri" panose="020F0502020204030204" pitchFamily="34" charset="0"/>
              </a:rPr>
              <a:t>This demonstrates interoperability in distributed applications, not only local storage.</a:t>
            </a:r>
            <a:endParaRPr lang="ru-RU" sz="2000">
              <a:solidFill>
                <a:srgbClr val="F8FFF1"/>
              </a:solidFill>
              <a:latin typeface="Calibri" panose="020F0502020204030204" pitchFamily="34" charset="0"/>
            </a:endParaRPr>
          </a:p>
        </p:txBody>
      </p:sp>
      <p:sp>
        <p:nvSpPr>
          <p:cNvPr id="5" name="Rectangle 4">
            <a:extLst>
              <a:ext uri="{FF2B5EF4-FFF2-40B4-BE49-F238E27FC236}">
                <a16:creationId xmlns:a16="http://schemas.microsoft.com/office/drawing/2014/main" id="{10943140-A737-B632-E75D-B96414E92BA7}"/>
              </a:ext>
            </a:extLst>
          </p:cNvPr>
          <p:cNvSpPr/>
          <p:nvPr/>
        </p:nvSpPr>
        <p:spPr>
          <a:xfrm>
            <a:off x="0" y="0"/>
            <a:ext cx="12192000" cy="355600"/>
          </a:xfrm>
          <a:prstGeom prst="rect">
            <a:avLst/>
          </a:prstGeom>
          <a:solidFill>
            <a:srgbClr val="71BF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65C31664-3A13-1688-B81E-E351D21EB16F}"/>
              </a:ext>
            </a:extLst>
          </p:cNvPr>
          <p:cNvSpPr txBox="1"/>
          <p:nvPr/>
        </p:nvSpPr>
        <p:spPr>
          <a:xfrm>
            <a:off x="304800" y="6413500"/>
            <a:ext cx="11582400" cy="246221"/>
          </a:xfrm>
          <a:prstGeom prst="rect">
            <a:avLst/>
          </a:prstGeom>
          <a:noFill/>
        </p:spPr>
        <p:txBody>
          <a:bodyPr vert="horz" rtlCol="0">
            <a:spAutoFit/>
          </a:bodyPr>
          <a:lstStyle/>
          <a:p>
            <a:r>
              <a:rPr lang="en-US" sz="1000">
                <a:solidFill>
                  <a:srgbClr val="E8F7D9"/>
                </a:solidFill>
                <a:latin typeface="Calibri" panose="020F0502020204030204" pitchFamily="34" charset="0"/>
              </a:rPr>
              <a:t>CyberGuard Phase III - Assignment 4</a:t>
            </a:r>
            <a:endParaRPr lang="ru-RU" sz="1000">
              <a:solidFill>
                <a:srgbClr val="E8F7D9"/>
              </a:solidFill>
              <a:latin typeface="Calibri" panose="020F0502020204030204" pitchFamily="34" charset="0"/>
            </a:endParaRPr>
          </a:p>
        </p:txBody>
      </p:sp>
    </p:spTree>
    <p:extLst>
      <p:ext uri="{BB962C8B-B14F-4D97-AF65-F5344CB8AC3E}">
        <p14:creationId xmlns:p14="http://schemas.microsoft.com/office/powerpoint/2010/main" val="3746607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4DBD40C-C003-406B-AA7C-F4A822522332}"/>
              </a:ext>
            </a:extLst>
          </p:cNvPr>
          <p:cNvSpPr/>
          <p:nvPr/>
        </p:nvSpPr>
        <p:spPr>
          <a:xfrm>
            <a:off x="0" y="0"/>
            <a:ext cx="12192000" cy="6858000"/>
          </a:xfrm>
          <a:prstGeom prst="rect">
            <a:avLst/>
          </a:prstGeom>
          <a:solidFill>
            <a:srgbClr val="141A0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a:extLst>
              <a:ext uri="{FF2B5EF4-FFF2-40B4-BE49-F238E27FC236}">
                <a16:creationId xmlns:a16="http://schemas.microsoft.com/office/drawing/2014/main" id="{1DB621F1-279C-1F40-D238-FC7D5B2F92DF}"/>
              </a:ext>
            </a:extLst>
          </p:cNvPr>
          <p:cNvSpPr>
            <a:spLocks noGrp="1"/>
          </p:cNvSpPr>
          <p:nvPr>
            <p:ph type="title"/>
          </p:nvPr>
        </p:nvSpPr>
        <p:spPr/>
        <p:txBody>
          <a:bodyPr>
            <a:normAutofit/>
          </a:bodyPr>
          <a:lstStyle/>
          <a:p>
            <a:r>
              <a:rPr lang="en-US" sz="2600" b="1">
                <a:solidFill>
                  <a:srgbClr val="F7FFEF"/>
                </a:solidFill>
                <a:latin typeface="Calibri" panose="020F0502020204030204" pitchFamily="34" charset="0"/>
              </a:rPr>
              <a:t>11. Logging and Monitoring</a:t>
            </a:r>
            <a:endParaRPr lang="ru-RU" sz="2600" b="1">
              <a:solidFill>
                <a:srgbClr val="F7FFEF"/>
              </a:solidFill>
              <a:latin typeface="Calibri" panose="020F0502020204030204" pitchFamily="34" charset="0"/>
            </a:endParaRPr>
          </a:p>
        </p:txBody>
      </p:sp>
      <p:sp>
        <p:nvSpPr>
          <p:cNvPr id="3" name="Content Placeholder 2">
            <a:extLst>
              <a:ext uri="{FF2B5EF4-FFF2-40B4-BE49-F238E27FC236}">
                <a16:creationId xmlns:a16="http://schemas.microsoft.com/office/drawing/2014/main" id="{689F8282-CC78-DE12-3854-4C866AED70FC}"/>
              </a:ext>
            </a:extLst>
          </p:cNvPr>
          <p:cNvSpPr>
            <a:spLocks noGrp="1"/>
          </p:cNvSpPr>
          <p:nvPr>
            <p:ph idx="1"/>
          </p:nvPr>
        </p:nvSpPr>
        <p:spPr/>
        <p:txBody>
          <a:bodyPr/>
          <a:lstStyle/>
          <a:p>
            <a:pPr>
              <a:spcAft>
                <a:spcPts val="600"/>
              </a:spcAft>
            </a:pPr>
            <a:r>
              <a:rPr lang="en-US" sz="2000">
                <a:solidFill>
                  <a:srgbClr val="F8FFF1"/>
                </a:solidFill>
                <a:latin typeface="Calibri" panose="020F0502020204030204" pitchFamily="34" charset="0"/>
              </a:rPr>
              <a:t>Winston provides structured logging to console and log files.</a:t>
            </a:r>
          </a:p>
          <a:p>
            <a:pPr>
              <a:spcAft>
                <a:spcPts val="600"/>
              </a:spcAft>
            </a:pPr>
            <a:r>
              <a:rPr lang="en-US" sz="2000">
                <a:solidFill>
                  <a:srgbClr val="F8FFF1"/>
                </a:solidFill>
                <a:latin typeface="Calibri" panose="020F0502020204030204" pitchFamily="34" charset="0"/>
              </a:rPr>
              <a:t>Request logging tracks path, status code, duration, and request identifiers.</a:t>
            </a:r>
          </a:p>
          <a:p>
            <a:pPr>
              <a:spcAft>
                <a:spcPts val="600"/>
              </a:spcAft>
            </a:pPr>
            <a:r>
              <a:rPr lang="en-US" sz="2000">
                <a:solidFill>
                  <a:srgbClr val="F8FFF1"/>
                </a:solidFill>
                <a:latin typeface="Calibri" panose="020F0502020204030204" pitchFamily="34" charset="0"/>
              </a:rPr>
              <a:t>Metrics endpoint exposes request, response-time, database, and cache statistics.</a:t>
            </a:r>
          </a:p>
          <a:p>
            <a:pPr>
              <a:spcAft>
                <a:spcPts val="600"/>
              </a:spcAft>
            </a:pPr>
            <a:r>
              <a:rPr lang="en-US" sz="2000">
                <a:solidFill>
                  <a:srgbClr val="F8FFF1"/>
                </a:solidFill>
                <a:latin typeface="Calibri" panose="020F0502020204030204" pitchFamily="34" charset="0"/>
              </a:rPr>
              <a:t>Audit log and system-events endpoints support debugging, accountability, and maintenance.</a:t>
            </a:r>
            <a:endParaRPr lang="ru-RU" sz="2000">
              <a:solidFill>
                <a:srgbClr val="F8FFF1"/>
              </a:solidFill>
              <a:latin typeface="Calibri" panose="020F0502020204030204" pitchFamily="34" charset="0"/>
            </a:endParaRPr>
          </a:p>
        </p:txBody>
      </p:sp>
      <p:sp>
        <p:nvSpPr>
          <p:cNvPr id="5" name="Rectangle 4">
            <a:extLst>
              <a:ext uri="{FF2B5EF4-FFF2-40B4-BE49-F238E27FC236}">
                <a16:creationId xmlns:a16="http://schemas.microsoft.com/office/drawing/2014/main" id="{563C9CD1-0E2B-2047-7016-F01C2214343E}"/>
              </a:ext>
            </a:extLst>
          </p:cNvPr>
          <p:cNvSpPr/>
          <p:nvPr/>
        </p:nvSpPr>
        <p:spPr>
          <a:xfrm>
            <a:off x="0" y="0"/>
            <a:ext cx="12192000" cy="355600"/>
          </a:xfrm>
          <a:prstGeom prst="rect">
            <a:avLst/>
          </a:prstGeom>
          <a:solidFill>
            <a:srgbClr val="71BF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3AFE10EA-337A-C1D3-21AE-A2583B369802}"/>
              </a:ext>
            </a:extLst>
          </p:cNvPr>
          <p:cNvSpPr txBox="1"/>
          <p:nvPr/>
        </p:nvSpPr>
        <p:spPr>
          <a:xfrm>
            <a:off x="304800" y="6413500"/>
            <a:ext cx="11582400" cy="246221"/>
          </a:xfrm>
          <a:prstGeom prst="rect">
            <a:avLst/>
          </a:prstGeom>
          <a:noFill/>
        </p:spPr>
        <p:txBody>
          <a:bodyPr vert="horz" rtlCol="0">
            <a:spAutoFit/>
          </a:bodyPr>
          <a:lstStyle/>
          <a:p>
            <a:r>
              <a:rPr lang="en-US" sz="1000">
                <a:solidFill>
                  <a:srgbClr val="E8F7D9"/>
                </a:solidFill>
                <a:latin typeface="Calibri" panose="020F0502020204030204" pitchFamily="34" charset="0"/>
              </a:rPr>
              <a:t>CyberGuard Phase III - Assignment 4</a:t>
            </a:r>
            <a:endParaRPr lang="ru-RU" sz="1000">
              <a:solidFill>
                <a:srgbClr val="E8F7D9"/>
              </a:solidFill>
              <a:latin typeface="Calibri" panose="020F0502020204030204" pitchFamily="34" charset="0"/>
            </a:endParaRPr>
          </a:p>
        </p:txBody>
      </p:sp>
    </p:spTree>
    <p:extLst>
      <p:ext uri="{BB962C8B-B14F-4D97-AF65-F5344CB8AC3E}">
        <p14:creationId xmlns:p14="http://schemas.microsoft.com/office/powerpoint/2010/main" val="1314216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5FC6DA5-135F-BFFD-88EB-D21463398282}"/>
              </a:ext>
            </a:extLst>
          </p:cNvPr>
          <p:cNvSpPr/>
          <p:nvPr/>
        </p:nvSpPr>
        <p:spPr>
          <a:xfrm>
            <a:off x="0" y="0"/>
            <a:ext cx="12192000" cy="6858000"/>
          </a:xfrm>
          <a:prstGeom prst="rect">
            <a:avLst/>
          </a:prstGeom>
          <a:solidFill>
            <a:srgbClr val="141A0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a:extLst>
              <a:ext uri="{FF2B5EF4-FFF2-40B4-BE49-F238E27FC236}">
                <a16:creationId xmlns:a16="http://schemas.microsoft.com/office/drawing/2014/main" id="{8BD89D50-D842-73BD-B92F-F6E9DE87AEC7}"/>
              </a:ext>
            </a:extLst>
          </p:cNvPr>
          <p:cNvSpPr>
            <a:spLocks noGrp="1"/>
          </p:cNvSpPr>
          <p:nvPr>
            <p:ph type="title"/>
          </p:nvPr>
        </p:nvSpPr>
        <p:spPr/>
        <p:txBody>
          <a:bodyPr>
            <a:normAutofit/>
          </a:bodyPr>
          <a:lstStyle/>
          <a:p>
            <a:r>
              <a:rPr lang="en-US" sz="2600" b="1">
                <a:solidFill>
                  <a:srgbClr val="F7FFEF"/>
                </a:solidFill>
                <a:latin typeface="Calibri" panose="020F0502020204030204" pitchFamily="34" charset="0"/>
              </a:rPr>
              <a:t>12. Live Demonstration Flow</a:t>
            </a:r>
            <a:endParaRPr lang="ru-RU" sz="2600" b="1">
              <a:solidFill>
                <a:srgbClr val="F7FFEF"/>
              </a:solidFill>
              <a:latin typeface="Calibri" panose="020F0502020204030204" pitchFamily="34" charset="0"/>
            </a:endParaRPr>
          </a:p>
        </p:txBody>
      </p:sp>
      <p:sp>
        <p:nvSpPr>
          <p:cNvPr id="3" name="Content Placeholder 2">
            <a:extLst>
              <a:ext uri="{FF2B5EF4-FFF2-40B4-BE49-F238E27FC236}">
                <a16:creationId xmlns:a16="http://schemas.microsoft.com/office/drawing/2014/main" id="{77D4D4DC-46EF-F04C-3D01-B4D8664286CD}"/>
              </a:ext>
            </a:extLst>
          </p:cNvPr>
          <p:cNvSpPr>
            <a:spLocks noGrp="1"/>
          </p:cNvSpPr>
          <p:nvPr>
            <p:ph idx="1"/>
          </p:nvPr>
        </p:nvSpPr>
        <p:spPr/>
        <p:txBody>
          <a:bodyPr/>
          <a:lstStyle/>
          <a:p>
            <a:pPr>
              <a:spcAft>
                <a:spcPts val="600"/>
              </a:spcAft>
            </a:pPr>
            <a:r>
              <a:rPr lang="en-US" sz="2000">
                <a:solidFill>
                  <a:srgbClr val="F8FFF1"/>
                </a:solidFill>
                <a:latin typeface="Calibri" panose="020F0502020204030204" pitchFamily="34" charset="0"/>
              </a:rPr>
              <a:t>Start frontend, Phase II backend, and Phase III backend.</a:t>
            </a:r>
          </a:p>
          <a:p>
            <a:pPr>
              <a:spcAft>
                <a:spcPts val="600"/>
              </a:spcAft>
            </a:pPr>
            <a:r>
              <a:rPr lang="en-US" sz="2000">
                <a:solidFill>
                  <a:srgbClr val="F8FFF1"/>
                </a:solidFill>
                <a:latin typeface="Calibri" panose="020F0502020204030204" pitchFamily="34" charset="0"/>
              </a:rPr>
              <a:t>Open the /data-management dashboard in the React application.</a:t>
            </a:r>
          </a:p>
          <a:p>
            <a:pPr>
              <a:spcAft>
                <a:spcPts val="600"/>
              </a:spcAft>
            </a:pPr>
            <a:r>
              <a:rPr lang="en-US" sz="2000">
                <a:solidFill>
                  <a:srgbClr val="F8FFF1"/>
                </a:solidFill>
                <a:latin typeface="Calibri" panose="020F0502020204030204" pitchFamily="34" charset="0"/>
              </a:rPr>
              <a:t>Login as admin, create a new incident, and trigger a background job.</a:t>
            </a:r>
          </a:p>
          <a:p>
            <a:pPr>
              <a:spcAft>
                <a:spcPts val="600"/>
              </a:spcAft>
            </a:pPr>
            <a:r>
              <a:rPr lang="en-US" sz="2000">
                <a:solidFill>
                  <a:srgbClr val="F8FFF1"/>
                </a:solidFill>
                <a:latin typeface="Calibri" panose="020F0502020204030204" pitchFamily="34" charset="0"/>
              </a:rPr>
              <a:t>Run the cache benchmark and XML-to-JSON transformation to show advanced features live.</a:t>
            </a:r>
            <a:endParaRPr lang="ru-RU" sz="2000">
              <a:solidFill>
                <a:srgbClr val="F8FFF1"/>
              </a:solidFill>
              <a:latin typeface="Calibri" panose="020F0502020204030204" pitchFamily="34" charset="0"/>
            </a:endParaRPr>
          </a:p>
        </p:txBody>
      </p:sp>
      <p:sp>
        <p:nvSpPr>
          <p:cNvPr id="5" name="Rectangle 4">
            <a:extLst>
              <a:ext uri="{FF2B5EF4-FFF2-40B4-BE49-F238E27FC236}">
                <a16:creationId xmlns:a16="http://schemas.microsoft.com/office/drawing/2014/main" id="{EAFE5A46-5277-B529-15AB-F6C32DA35719}"/>
              </a:ext>
            </a:extLst>
          </p:cNvPr>
          <p:cNvSpPr/>
          <p:nvPr/>
        </p:nvSpPr>
        <p:spPr>
          <a:xfrm>
            <a:off x="0" y="0"/>
            <a:ext cx="12192000" cy="355600"/>
          </a:xfrm>
          <a:prstGeom prst="rect">
            <a:avLst/>
          </a:prstGeom>
          <a:solidFill>
            <a:srgbClr val="71BF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5609395C-9B6D-BBD1-77B1-79F045FAB843}"/>
              </a:ext>
            </a:extLst>
          </p:cNvPr>
          <p:cNvSpPr txBox="1"/>
          <p:nvPr/>
        </p:nvSpPr>
        <p:spPr>
          <a:xfrm>
            <a:off x="304800" y="6413500"/>
            <a:ext cx="11582400" cy="246221"/>
          </a:xfrm>
          <a:prstGeom prst="rect">
            <a:avLst/>
          </a:prstGeom>
          <a:noFill/>
        </p:spPr>
        <p:txBody>
          <a:bodyPr vert="horz" rtlCol="0">
            <a:spAutoFit/>
          </a:bodyPr>
          <a:lstStyle/>
          <a:p>
            <a:r>
              <a:rPr lang="en-US" sz="1000">
                <a:solidFill>
                  <a:srgbClr val="E8F7D9"/>
                </a:solidFill>
                <a:latin typeface="Calibri" panose="020F0502020204030204" pitchFamily="34" charset="0"/>
              </a:rPr>
              <a:t>CyberGuard Phase III - Assignment 4</a:t>
            </a:r>
            <a:endParaRPr lang="ru-RU" sz="1000">
              <a:solidFill>
                <a:srgbClr val="E8F7D9"/>
              </a:solidFill>
              <a:latin typeface="Calibri" panose="020F0502020204030204" pitchFamily="34" charset="0"/>
            </a:endParaRPr>
          </a:p>
        </p:txBody>
      </p:sp>
    </p:spTree>
    <p:extLst>
      <p:ext uri="{BB962C8B-B14F-4D97-AF65-F5344CB8AC3E}">
        <p14:creationId xmlns:p14="http://schemas.microsoft.com/office/powerpoint/2010/main" val="567964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72DC3BA-9982-1611-C5C4-F8DCB4147721}"/>
              </a:ext>
            </a:extLst>
          </p:cNvPr>
          <p:cNvSpPr/>
          <p:nvPr/>
        </p:nvSpPr>
        <p:spPr>
          <a:xfrm>
            <a:off x="0" y="0"/>
            <a:ext cx="12192000" cy="6858000"/>
          </a:xfrm>
          <a:prstGeom prst="rect">
            <a:avLst/>
          </a:prstGeom>
          <a:solidFill>
            <a:srgbClr val="141A0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a:extLst>
              <a:ext uri="{FF2B5EF4-FFF2-40B4-BE49-F238E27FC236}">
                <a16:creationId xmlns:a16="http://schemas.microsoft.com/office/drawing/2014/main" id="{642A87EF-9658-D059-3411-E01556EC5DFA}"/>
              </a:ext>
            </a:extLst>
          </p:cNvPr>
          <p:cNvSpPr>
            <a:spLocks noGrp="1"/>
          </p:cNvSpPr>
          <p:nvPr>
            <p:ph type="title"/>
          </p:nvPr>
        </p:nvSpPr>
        <p:spPr/>
        <p:txBody>
          <a:bodyPr>
            <a:normAutofit/>
          </a:bodyPr>
          <a:lstStyle/>
          <a:p>
            <a:r>
              <a:rPr lang="en-US" sz="2600" b="1">
                <a:solidFill>
                  <a:srgbClr val="F7FFEF"/>
                </a:solidFill>
                <a:latin typeface="Calibri" panose="020F0502020204030204" pitchFamily="34" charset="0"/>
              </a:rPr>
              <a:t>13. Challenges, Fixes, and Lessons Learned</a:t>
            </a:r>
            <a:endParaRPr lang="ru-RU" sz="2600" b="1">
              <a:solidFill>
                <a:srgbClr val="F7FFEF"/>
              </a:solidFill>
              <a:latin typeface="Calibri" panose="020F0502020204030204" pitchFamily="34" charset="0"/>
            </a:endParaRPr>
          </a:p>
        </p:txBody>
      </p:sp>
      <p:sp>
        <p:nvSpPr>
          <p:cNvPr id="3" name="Content Placeholder 2">
            <a:extLst>
              <a:ext uri="{FF2B5EF4-FFF2-40B4-BE49-F238E27FC236}">
                <a16:creationId xmlns:a16="http://schemas.microsoft.com/office/drawing/2014/main" id="{B283AA8C-940A-2E0F-949C-69F9E9A36C24}"/>
              </a:ext>
            </a:extLst>
          </p:cNvPr>
          <p:cNvSpPr>
            <a:spLocks noGrp="1"/>
          </p:cNvSpPr>
          <p:nvPr>
            <p:ph idx="1"/>
          </p:nvPr>
        </p:nvSpPr>
        <p:spPr/>
        <p:txBody>
          <a:bodyPr/>
          <a:lstStyle/>
          <a:p>
            <a:pPr>
              <a:spcAft>
                <a:spcPts val="600"/>
              </a:spcAft>
            </a:pPr>
            <a:r>
              <a:rPr lang="en-US" sz="2000">
                <a:solidFill>
                  <a:srgbClr val="F8FFF1"/>
                </a:solidFill>
                <a:latin typeface="Calibri" panose="020F0502020204030204" pitchFamily="34" charset="0"/>
              </a:rPr>
              <a:t>The initial scaffold needed a stronger service layer and cleaner separation of concerns.</a:t>
            </a:r>
          </a:p>
          <a:p>
            <a:pPr>
              <a:spcAft>
                <a:spcPts val="600"/>
              </a:spcAft>
            </a:pPr>
            <a:r>
              <a:rPr lang="en-US" sz="2000">
                <a:solidFill>
                  <a:srgbClr val="F8FFF1"/>
                </a:solidFill>
                <a:latin typeface="Calibri" panose="020F0502020204030204" pitchFamily="34" charset="0"/>
              </a:rPr>
              <a:t>Database startup ordering had to be fixed so SQLite initializes before seeding and serving requests.</a:t>
            </a:r>
          </a:p>
          <a:p>
            <a:pPr>
              <a:spcAft>
                <a:spcPts val="600"/>
              </a:spcAft>
            </a:pPr>
            <a:r>
              <a:rPr lang="en-US" sz="2000">
                <a:solidFill>
                  <a:srgbClr val="F8FFF1"/>
                </a:solidFill>
                <a:latin typeface="Calibri" panose="020F0502020204030204" pitchFamily="34" charset="0"/>
              </a:rPr>
              <a:t>Seed logic was improved to avoid duplicating NoSQL data on every restart.</a:t>
            </a:r>
          </a:p>
          <a:p>
            <a:pPr>
              <a:spcAft>
                <a:spcPts val="600"/>
              </a:spcAft>
            </a:pPr>
            <a:r>
              <a:rPr lang="en-US" sz="2000">
                <a:solidFill>
                  <a:srgbClr val="F8FFF1"/>
                </a:solidFill>
                <a:latin typeface="Calibri" panose="020F0502020204030204" pitchFamily="34" charset="0"/>
              </a:rPr>
              <a:t>A dedicated Phase III dashboard was added to make demonstration and explanation easier.</a:t>
            </a:r>
            <a:endParaRPr lang="ru-RU" sz="2000">
              <a:solidFill>
                <a:srgbClr val="F8FFF1"/>
              </a:solidFill>
              <a:latin typeface="Calibri" panose="020F0502020204030204" pitchFamily="34" charset="0"/>
            </a:endParaRPr>
          </a:p>
        </p:txBody>
      </p:sp>
      <p:sp>
        <p:nvSpPr>
          <p:cNvPr id="5" name="Rectangle 4">
            <a:extLst>
              <a:ext uri="{FF2B5EF4-FFF2-40B4-BE49-F238E27FC236}">
                <a16:creationId xmlns:a16="http://schemas.microsoft.com/office/drawing/2014/main" id="{BFF6141A-D120-8466-BF82-86437C641B6F}"/>
              </a:ext>
            </a:extLst>
          </p:cNvPr>
          <p:cNvSpPr/>
          <p:nvPr/>
        </p:nvSpPr>
        <p:spPr>
          <a:xfrm>
            <a:off x="0" y="0"/>
            <a:ext cx="12192000" cy="355600"/>
          </a:xfrm>
          <a:prstGeom prst="rect">
            <a:avLst/>
          </a:prstGeom>
          <a:solidFill>
            <a:srgbClr val="71BF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8533E2E4-9912-8C45-8DDF-155E7FAFA7DA}"/>
              </a:ext>
            </a:extLst>
          </p:cNvPr>
          <p:cNvSpPr txBox="1"/>
          <p:nvPr/>
        </p:nvSpPr>
        <p:spPr>
          <a:xfrm>
            <a:off x="304800" y="6413500"/>
            <a:ext cx="11582400" cy="246221"/>
          </a:xfrm>
          <a:prstGeom prst="rect">
            <a:avLst/>
          </a:prstGeom>
          <a:noFill/>
        </p:spPr>
        <p:txBody>
          <a:bodyPr vert="horz" rtlCol="0">
            <a:spAutoFit/>
          </a:bodyPr>
          <a:lstStyle/>
          <a:p>
            <a:r>
              <a:rPr lang="en-US" sz="1000">
                <a:solidFill>
                  <a:srgbClr val="E8F7D9"/>
                </a:solidFill>
                <a:latin typeface="Calibri" panose="020F0502020204030204" pitchFamily="34" charset="0"/>
              </a:rPr>
              <a:t>CyberGuard Phase III - Assignment 4</a:t>
            </a:r>
            <a:endParaRPr lang="ru-RU" sz="1000">
              <a:solidFill>
                <a:srgbClr val="E8F7D9"/>
              </a:solidFill>
              <a:latin typeface="Calibri" panose="020F0502020204030204" pitchFamily="34" charset="0"/>
            </a:endParaRPr>
          </a:p>
        </p:txBody>
      </p:sp>
    </p:spTree>
    <p:extLst>
      <p:ext uri="{BB962C8B-B14F-4D97-AF65-F5344CB8AC3E}">
        <p14:creationId xmlns:p14="http://schemas.microsoft.com/office/powerpoint/2010/main" val="209867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405B41-2A5E-C03D-59EE-4E10A841F7ED}"/>
              </a:ext>
            </a:extLst>
          </p:cNvPr>
          <p:cNvSpPr/>
          <p:nvPr/>
        </p:nvSpPr>
        <p:spPr>
          <a:xfrm>
            <a:off x="0" y="0"/>
            <a:ext cx="12192000" cy="6858000"/>
          </a:xfrm>
          <a:prstGeom prst="rect">
            <a:avLst/>
          </a:prstGeom>
          <a:solidFill>
            <a:srgbClr val="141A0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a:extLst>
              <a:ext uri="{FF2B5EF4-FFF2-40B4-BE49-F238E27FC236}">
                <a16:creationId xmlns:a16="http://schemas.microsoft.com/office/drawing/2014/main" id="{75DF55CE-EB9D-82D6-B841-10159BC333A5}"/>
              </a:ext>
            </a:extLst>
          </p:cNvPr>
          <p:cNvSpPr>
            <a:spLocks noGrp="1"/>
          </p:cNvSpPr>
          <p:nvPr>
            <p:ph type="title"/>
          </p:nvPr>
        </p:nvSpPr>
        <p:spPr/>
        <p:txBody>
          <a:bodyPr>
            <a:normAutofit/>
          </a:bodyPr>
          <a:lstStyle/>
          <a:p>
            <a:r>
              <a:rPr lang="en-US" sz="2600" b="1">
                <a:solidFill>
                  <a:srgbClr val="F7FFEF"/>
                </a:solidFill>
                <a:latin typeface="Calibri" panose="020F0502020204030204" pitchFamily="34" charset="0"/>
              </a:rPr>
              <a:t>14. Conclusion and Future Improvements</a:t>
            </a:r>
            <a:endParaRPr lang="ru-RU" sz="2600" b="1">
              <a:solidFill>
                <a:srgbClr val="F7FFEF"/>
              </a:solidFill>
              <a:latin typeface="Calibri" panose="020F0502020204030204" pitchFamily="34" charset="0"/>
            </a:endParaRPr>
          </a:p>
        </p:txBody>
      </p:sp>
      <p:sp>
        <p:nvSpPr>
          <p:cNvPr id="3" name="Content Placeholder 2">
            <a:extLst>
              <a:ext uri="{FF2B5EF4-FFF2-40B4-BE49-F238E27FC236}">
                <a16:creationId xmlns:a16="http://schemas.microsoft.com/office/drawing/2014/main" id="{E0481DBE-EC7E-1224-883B-9B5F6CA7F931}"/>
              </a:ext>
            </a:extLst>
          </p:cNvPr>
          <p:cNvSpPr>
            <a:spLocks noGrp="1"/>
          </p:cNvSpPr>
          <p:nvPr>
            <p:ph idx="1"/>
          </p:nvPr>
        </p:nvSpPr>
        <p:spPr/>
        <p:txBody>
          <a:bodyPr/>
          <a:lstStyle/>
          <a:p>
            <a:pPr>
              <a:spcAft>
                <a:spcPts val="600"/>
              </a:spcAft>
            </a:pPr>
            <a:r>
              <a:rPr lang="en-US" sz="2000">
                <a:solidFill>
                  <a:srgbClr val="F8FFF1"/>
                </a:solidFill>
                <a:latin typeface="Calibri" panose="020F0502020204030204" pitchFamily="34" charset="0"/>
              </a:rPr>
              <a:t>CyberGuard Phase III now satisfies the assignment requirements with a working end-to-end implementation.</a:t>
            </a:r>
          </a:p>
          <a:p>
            <a:pPr>
              <a:spcAft>
                <a:spcPts val="600"/>
              </a:spcAft>
            </a:pPr>
            <a:r>
              <a:rPr lang="en-US" sz="2000">
                <a:solidFill>
                  <a:srgbClr val="F8FFF1"/>
                </a:solidFill>
                <a:latin typeface="Calibri" panose="020F0502020204030204" pitchFamily="34" charset="0"/>
              </a:rPr>
              <a:t>The project demonstrates real CRUD, dual-database design, secure APIs, async jobs, caching, transformation, and observability.</a:t>
            </a:r>
          </a:p>
          <a:p>
            <a:pPr>
              <a:spcAft>
                <a:spcPts val="600"/>
              </a:spcAft>
            </a:pPr>
            <a:r>
              <a:rPr lang="en-US" sz="2000">
                <a:solidFill>
                  <a:srgbClr val="F8FFF1"/>
                </a:solidFill>
                <a:latin typeface="Calibri" panose="020F0502020204030204" pitchFamily="34" charset="0"/>
              </a:rPr>
              <a:t>Future improvements could include Redis, RabbitMQ, PostgreSQL, Docker deployment, and merged server orchestration.</a:t>
            </a:r>
          </a:p>
          <a:p>
            <a:pPr>
              <a:spcAft>
                <a:spcPts val="600"/>
              </a:spcAft>
            </a:pPr>
            <a:r>
              <a:rPr lang="en-US" sz="2000">
                <a:solidFill>
                  <a:srgbClr val="F8FFF1"/>
                </a:solidFill>
                <a:latin typeface="Calibri" panose="020F0502020204030204" pitchFamily="34" charset="0"/>
              </a:rPr>
              <a:t>Current result: a complete, testable, and presentation-ready data management layer.</a:t>
            </a:r>
            <a:endParaRPr lang="ru-RU" sz="2000">
              <a:solidFill>
                <a:srgbClr val="F8FFF1"/>
              </a:solidFill>
              <a:latin typeface="Calibri" panose="020F0502020204030204" pitchFamily="34" charset="0"/>
            </a:endParaRPr>
          </a:p>
        </p:txBody>
      </p:sp>
      <p:sp>
        <p:nvSpPr>
          <p:cNvPr id="5" name="Rectangle 4">
            <a:extLst>
              <a:ext uri="{FF2B5EF4-FFF2-40B4-BE49-F238E27FC236}">
                <a16:creationId xmlns:a16="http://schemas.microsoft.com/office/drawing/2014/main" id="{2F07962F-35F7-C1DD-CC64-3D1E4C4409AB}"/>
              </a:ext>
            </a:extLst>
          </p:cNvPr>
          <p:cNvSpPr/>
          <p:nvPr/>
        </p:nvSpPr>
        <p:spPr>
          <a:xfrm>
            <a:off x="0" y="0"/>
            <a:ext cx="12192000" cy="355600"/>
          </a:xfrm>
          <a:prstGeom prst="rect">
            <a:avLst/>
          </a:prstGeom>
          <a:solidFill>
            <a:srgbClr val="71BF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54D38B9B-9221-E8FD-9D29-CD3F9CE7C9E0}"/>
              </a:ext>
            </a:extLst>
          </p:cNvPr>
          <p:cNvSpPr txBox="1"/>
          <p:nvPr/>
        </p:nvSpPr>
        <p:spPr>
          <a:xfrm>
            <a:off x="304800" y="6413500"/>
            <a:ext cx="11582400" cy="246221"/>
          </a:xfrm>
          <a:prstGeom prst="rect">
            <a:avLst/>
          </a:prstGeom>
          <a:noFill/>
        </p:spPr>
        <p:txBody>
          <a:bodyPr vert="horz" rtlCol="0">
            <a:spAutoFit/>
          </a:bodyPr>
          <a:lstStyle/>
          <a:p>
            <a:r>
              <a:rPr lang="en-US" sz="1000">
                <a:solidFill>
                  <a:srgbClr val="E8F7D9"/>
                </a:solidFill>
                <a:latin typeface="Calibri" panose="020F0502020204030204" pitchFamily="34" charset="0"/>
              </a:rPr>
              <a:t>CyberGuard Phase III - Assignment 4</a:t>
            </a:r>
            <a:endParaRPr lang="ru-RU" sz="1000">
              <a:solidFill>
                <a:srgbClr val="E8F7D9"/>
              </a:solidFill>
              <a:latin typeface="Calibri" panose="020F0502020204030204" pitchFamily="34" charset="0"/>
            </a:endParaRPr>
          </a:p>
        </p:txBody>
      </p:sp>
    </p:spTree>
    <p:extLst>
      <p:ext uri="{BB962C8B-B14F-4D97-AF65-F5344CB8AC3E}">
        <p14:creationId xmlns:p14="http://schemas.microsoft.com/office/powerpoint/2010/main" val="41227419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2753</Words>
  <Application>Microsoft Office PowerPoint</Application>
  <PresentationFormat>Widescreen</PresentationFormat>
  <Paragraphs>117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CyberGuard</vt:lpstr>
      <vt:lpstr>1. Assignment Goal and Scope</vt:lpstr>
      <vt:lpstr>2. Project Evolution Across Phases</vt:lpstr>
      <vt:lpstr>3. Final Architecture Overview</vt:lpstr>
      <vt:lpstr>4. Data Access Layer Implementation</vt:lpstr>
      <vt:lpstr>5. Database Integration: SQL + NoSQL</vt:lpstr>
      <vt:lpstr>6. RESTful API-Based Data Communication</vt:lpstr>
      <vt:lpstr>7. Asynchronous Data Processing</vt:lpstr>
      <vt:lpstr>8. Caching Strategy and Performance</vt:lpstr>
      <vt:lpstr>9. Data Security and Validation</vt:lpstr>
      <vt:lpstr>10. Data Transformation and Interoperability</vt:lpstr>
      <vt:lpstr>11. Logging and Monitoring</vt:lpstr>
      <vt:lpstr>12. Live Demonstration Flow</vt:lpstr>
      <vt:lpstr>13. Challenges, Fixes, and Lessons Learned</vt:lpstr>
      <vt:lpstr>14. Conclusion and Future Improvements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Akhmedova Robiyakhon</dc:creator>
  <cp:lastModifiedBy>Akhmedova Robiyakhon</cp:lastModifiedBy>
  <cp:revision>1</cp:revision>
  <dcterms:created xsi:type="dcterms:W3CDTF">2026-04-11T16:14:27Z</dcterms:created>
  <dcterms:modified xsi:type="dcterms:W3CDTF">2026-04-11T16:14:27Z</dcterms:modified>
</cp:coreProperties>
</file>